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companion to the pitch deck: the concrete feature list and workflows. Everything maps to VISION-SHIPPABLE.md feature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this exists and ran end-to-end on Outrigger July 23. The rest of the deck is what turns it into a product anyone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view both audiences share. The next two slides walk each audience's path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marketer path is the Phase 2 exit criterion: a non-developer ships a certified experiment entirely from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mode survives as the power-user path after hosted agents ship. The CLI (A2) replaces today's pasted bash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Marketers feel O3 and O6 most; developers feel O1 and O2. O4's Optimizely-snippet path removes the wait-for-site-deploy blocker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A1+A8 are the marketer unlock; A2 is the developer quality-of-life fix; A4 is how expertise scales across brands and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is also the acquisition crown jewel — but internally it's simply what stops another silent custom-code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kills the empty-paste failure class permanently. S5 is the category's reason to exist: winners stop being stranded client-side 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marketer's home surface. Optional, but it packages the discipline (hypothesis, metric, gates) most teams never build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moat slide in internal form: the concrete mechanics of the platform improving itself under supervision.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E4 is the scariest diligence surface and gets hardened before anyone asks. P1 breaks the biggest portability boundary (SPAs, auth-gated).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phases as the vision doc, cut by audience: devs get relief first, marketers get the unlock second, the program gets the loop third, buyers get compliance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Closer: the division of labor is the safety story AND the adoption story — everyone keeps the part of the job that needs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OPMC  ·  INTERNAL FEATURE OUTLINE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 —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Developers &amp; Marketers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on the road to “anyone can use it” — organized by the workflow it serves, tagged by who feels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507992"/>
            <a:ext cx="164592" cy="164592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— live today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58768" y="43434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1648" y="4507992"/>
            <a:ext cx="164592" cy="164592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Text 8"/>
          <p:cNvSpPr/>
          <p:nvPr/>
        </p:nvSpPr>
        <p:spPr>
          <a:xfrm>
            <a:off x="4315968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— exists, needs finishing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68896" y="43434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51776" y="4507992"/>
            <a:ext cx="164592" cy="164592"/>
          </a:xfrm>
          <a:prstGeom prst="ellipse">
            <a:avLst/>
          </a:prstGeom>
          <a:solidFill>
            <a:srgbClr val="4D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7626096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to build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truth: docs/VISION-SHIPPABLE.md  ·  companion to the Optimizely pitch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 — the working loop we're building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9384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boo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11680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75504" y="1773936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75504" y="17739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07008" y="173736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library (3 tiers)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07008" y="202996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/ brand / prototype skills, in-app reader, delivered into each branch, pruned on deselect.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08776" y="164592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929384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3" name="Image 1" descr="/private/tmp/claude-501/-Users-bryanhopkins-AIChat-resort-ai-chatbot/485380a5-5fbc-481a-aba5-950dd47c1f1d/scratchpad/deck/icons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1168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835640" y="1773936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835640" y="17739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867144" y="173736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intelligence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867144" y="202996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data.md (embedded data + DOM joins), design-tokens.md (fonts, variables, z-index), SSR + rendered dual capture.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2971800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0" name="Image 2" descr="/private/tmp/claude-501/-Users-bryanhopkins-AIChat-resort-ai-chatbot/485380a5-5fbc-481a-aba5-950dd47c1f1d/scratchpad/deck/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054096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175504" y="2816352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175504" y="28163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207008" y="277977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Real-env review loader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07008" y="307238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Token-gated ?opmc injection on the customer's real lower environment, per-page verify, heartbeat.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08776" y="268833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73368" y="2971800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7" name="Image 3" descr="/private/tmp/claude-501/-Users-bryanhopkins-AIChat-resort-ai-chatbot/485380a5-5fbc-481a-aba5-950dd47c1f1d/scratchpad/deck/icons/activity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054096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835640" y="2816352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835640" y="28163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867144" y="277977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status APIs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867144" y="307238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/api/loader/status + /api/prototypes/sync-status — served vs HEAD commit, staleness, artifact problems. Tokenless.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373075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3232" y="4014216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34" name="Image 4" descr="/private/tmp/claude-501/-Users-bryanhopkins-AIChat-resort-ai-chatbot/485380a5-5fbc-481a-aba5-950dd47c1f1d/scratchpad/deck/icons/cha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96512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175504" y="3858768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175504" y="38587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207008" y="382219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channel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207008" y="411480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file friction and proposals from inside the work, attributed to the prototype. Triage inbox.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08776" y="373075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373368" y="4014216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41" name="Image 5" descr="/private/tmp/claude-501/-Users-bryanhopkins-AIChat-resort-ai-chatbot/485380a5-5fbc-481a-aba5-950dd47c1f1d/scratchpad/deck/icons/cpu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096512"/>
            <a:ext cx="201168" cy="20116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835640" y="3858768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835640" y="38587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6867144" y="382219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Self-orienting agents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6867144" y="411480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opmc-system mental model + §0 sync check: agents wake oriented, detect drift, re-sync themselves.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48640" y="4773168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13232" y="5056632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48" name="Image 6" descr="/private/tmp/claude-501/-Users-bryanhopkins-AIChat-resort-ai-chatbot/485380a5-5fbc-481a-aba5-950dd47c1f1d/scratchpad/deck/icons/box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138928"/>
            <a:ext cx="201168" cy="201168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5175504" y="4901184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5175504" y="49011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1207008" y="486460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 versions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1207008" y="5157216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cuts, drift guard, Optimizely handoff bundle. Review-bytes = ship-bytes.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6208776" y="4773168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6373368" y="5056632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55" name="Image 7" descr="/private/tmp/claude-501/-Users-bryanhopkins-AIChat-resort-ai-chatbot/485380a5-5fbc-481a-aba5-950dd47c1f1d/scratchpad/deck/icons/shield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5138928"/>
            <a:ext cx="201168" cy="201168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10835640" y="4901184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10835640" y="49011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58" name="Text 48"/>
          <p:cNvSpPr/>
          <p:nvPr/>
        </p:nvSpPr>
        <p:spPr>
          <a:xfrm>
            <a:off x="6867144" y="486460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Injection-timing hardening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6867144" y="5157216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Dual-timing lesson (loader late vs Optimizely early) encoded in the build template and skills.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workflows — who does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804672"/>
          </a:xfrm>
          <a:prstGeom prst="roundRect">
            <a:avLst>
              <a:gd name="adj" fmla="val 1022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37944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edi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932584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282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0482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 / PM writes the brief — plain language, template-guided. Agent interviews if it's thin.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222992" y="1892808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22992" y="1892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551176"/>
            <a:ext cx="11091672" cy="804672"/>
          </a:xfrm>
          <a:prstGeom prst="roundRect">
            <a:avLst>
              <a:gd name="adj" fmla="val 1022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43200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3" name="Image 1" descr="/private/tmp/claude-501/-Users-bryanhopkins-AIChat-resort-ai-chatbot/485380a5-5fbc-481a-aba5-950dd47c1f1d/scratchpad/deck/icons/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60" y="2837840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633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25880" y="2953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authors in a real repo with the page's data, brand tokens, and production source alongside.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222992" y="2798064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222992" y="27980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456432"/>
            <a:ext cx="11091672" cy="804672"/>
          </a:xfrm>
          <a:prstGeom prst="roundRect">
            <a:avLst>
              <a:gd name="adj" fmla="val 1022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48456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0" name="Image 2" descr="/private/tmp/claude-501/-Users-bryanhopkins-AIChat-resort-ai-chatbot/485380a5-5fbc-481a-aba5-950dd47c1f1d/scratchpad/deck/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60" y="3743096"/>
            <a:ext cx="231343" cy="231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25880" y="3858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open the review link — the real page, real environment, no experiment yet. Approve or iterate.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0222992" y="3703320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222992" y="37033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8640" y="4361688"/>
            <a:ext cx="11091672" cy="804672"/>
          </a:xfrm>
          <a:prstGeom prst="roundRect">
            <a:avLst>
              <a:gd name="adj" fmla="val 1022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4553712"/>
            <a:ext cx="420624" cy="420624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7" name="Image 3" descr="/private/tmp/claude-501/-Users-bryanhopkins-AIChat-resort-ai-chatbot/485380a5-5fbc-481a-aba5-950dd47c1f1d/scratchpad/deck/icon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60" y="4648352"/>
            <a:ext cx="231343" cy="23134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4443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&amp; Ship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325880" y="47640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QA gate, then the variation is pushed into Optimizely by API and read back. No paste.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0222992" y="4608576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222992" y="460857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5266944"/>
            <a:ext cx="11091672" cy="804672"/>
          </a:xfrm>
          <a:prstGeom prst="roundRect">
            <a:avLst>
              <a:gd name="adj" fmla="val 1022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31520" y="5458968"/>
            <a:ext cx="420624" cy="420624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34" name="Image 4" descr="/private/tmp/claude-501/-Users-bryanhopkins-AIChat-resort-ai-chatbot/485380a5-5fbc-481a-aba5-950dd47c1f1d/scratchpad/deck/icons/refres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60" y="5553608"/>
            <a:ext cx="231343" cy="23134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25880" y="5349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325880" y="5669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becomes ideas; ideas become skills and checks; every next session inherits them.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10222992" y="5513832"/>
            <a:ext cx="1234440" cy="310896"/>
          </a:xfrm>
          <a:prstGeom prst="roundRect">
            <a:avLst>
              <a:gd name="adj" fmla="val 26471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222992" y="55138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— MARKETING / PM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 experiment without touching a terminal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7315200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46504"/>
            <a:ext cx="329184" cy="3291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6276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→ Backlog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0" y="16276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idea lands as a card — yours, the team's, or one an agent submitted.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63140"/>
            <a:ext cx="7315200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382012"/>
            <a:ext cx="329184" cy="3291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382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2631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brief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22631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per experiment type: the change, where, success criteria, hypothesis, primary metric.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7315200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017520"/>
            <a:ext cx="329184" cy="3291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8986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gate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28986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approved by whoever owns the program. Nothing builds without 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34156"/>
            <a:ext cx="7315200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3653028"/>
            <a:ext cx="329184" cy="3291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6530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5341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Build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83280" y="353415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hosted agent picks it up — progress and screenshots stream into the console. Chat to steer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69664"/>
            <a:ext cx="7315200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" y="4288536"/>
            <a:ext cx="329184" cy="3291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16966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on the real site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83280" y="41696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review link on the actual environment. Comment, request changes, approve.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805172"/>
            <a:ext cx="7315200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" y="4924044"/>
            <a:ext cx="329184" cy="3291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9240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70432" y="48051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→ Live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83280" y="48051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runs, the variation ships into Optimizely by API, the card locks while the test runs.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7315200" cy="566928"/>
          </a:xfrm>
          <a:prstGeom prst="roundRect">
            <a:avLst>
              <a:gd name="adj" fmla="val 14516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" y="5559552"/>
            <a:ext cx="329184" cy="3291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559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70432" y="5440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&amp; ship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383280" y="54406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read back into the card. Winner graduates to a production PR — engineering merges.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83880" y="1627632"/>
            <a:ext cx="3456432" cy="4343400"/>
          </a:xfrm>
          <a:prstGeom prst="roundRect">
            <a:avLst>
              <a:gd name="adj" fmla="val 2381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never do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1248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terminal or an IDE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JavaScript into the custom-code box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developer “is this live yet?” — the card knows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Wonder whether the preview matches what ships — same bytes, by construction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hosted agents (A1) · program board (B1–B4) · API push (S1) · results read-back (S4)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— DEVELOPER / POWER USER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mode: real repo, real tooling, agent alongside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667512"/>
          </a:xfrm>
          <a:prstGeom prst="roundRect">
            <a:avLst>
              <a:gd name="adj" fmla="val 1232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55648"/>
            <a:ext cx="3017520" cy="41148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556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opmc init room-overlay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1627632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command: clone, branch off template, symlink production source, load skills, wire env.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11091672" cy="667512"/>
          </a:xfrm>
          <a:prstGeom prst="roundRect">
            <a:avLst>
              <a:gd name="adj" fmla="val 1232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96312"/>
            <a:ext cx="3017520" cy="41148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963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2368296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wakes oriented — reads .opmc/, checks sync-status, self-heals drift, knows the brief.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91672" cy="667512"/>
          </a:xfrm>
          <a:prstGeom prst="roundRect">
            <a:avLst>
              <a:gd name="adj" fmla="val 1232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236976"/>
            <a:ext cx="3017520" cy="41148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3697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dev.mjs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3108960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of the real page with your build injected. ?clean=1 for screenshots, PORT= for parallel.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1091672" cy="667512"/>
          </a:xfrm>
          <a:prstGeom prst="roundRect">
            <a:avLst>
              <a:gd name="adj" fmla="val 1232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977640"/>
            <a:ext cx="3017520" cy="41148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77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3849624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loader serves branch HEAD. Poll /api/loader/status until YOUR commit is live — then judge.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11091672" cy="667512"/>
          </a:xfrm>
          <a:prstGeom prst="roundRect">
            <a:avLst>
              <a:gd name="adj" fmla="val 1232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718304"/>
            <a:ext cx="3017520" cy="41148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1830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version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86200" y="4590288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SHA-pinned, immutable. The console pushes it into Optimizely by API and verifies the read-back.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30952"/>
            <a:ext cx="11091672" cy="667512"/>
          </a:xfrm>
          <a:prstGeom prst="roundRect">
            <a:avLst>
              <a:gd name="adj" fmla="val 1232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5458968"/>
            <a:ext cx="3017520" cy="41148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4589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 → PR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86200" y="5330952"/>
            <a:ext cx="7680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drafts the production implementation against the real source tree. You review and merge.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 the tooling enforces: .opmc/ and .claude/skills/ are console-authored · src/ and dist/ are yours · source-site/ is read-only · nothing merges without a human.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— GETTING IN THE DOOR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Onboarding: from signup to first build, alone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938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11680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66944" y="177393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66944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07008" y="17373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App OAuth (O1)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07008" y="202996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Repo-scoped install, PR-only permission, one-click revoke. Kills the PAT scope maze that eats hours.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08776" y="164592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92938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3" name="Image 1" descr="/private/tmp/claude-501/-Users-bryanhopkins-AIChat-resort-ai-chatbot/485380a5-5fbc-481a-aba5-950dd47c1f1d/scratchpad/deck/icons/pk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1168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27080" y="177393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927080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867144" y="17373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Auto-provisioned prototypes repo (O2)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867144" y="202996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creates the repo from a template on connect — no manual starter-branch setup.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2971800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0" name="Image 2" descr="/private/tmp/claude-501/-Users-bryanhopkins-AIChat-resort-ai-chatbot/485380a5-5fbc-481a-aba5-950dd47c1f1d/scratchpad/deck/icons/monito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054096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266944" y="2816352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66944" y="28163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207008" y="277977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compatibility verdict (O3)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07008" y="307238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test, CSP parse, bot detection, loader reachability → red/green with the reason, in 30 seconds.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08776" y="268833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73368" y="2971800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7" name="Image 3" descr="/private/tmp/claude-501/-Users-bryanhopkins-AIChat-resort-ai-chatbot/485380a5-5fbc-481a-aba5-950dd47c1f1d/scratchpad/deck/icons/zap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054096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707624" y="2816352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707624" y="281635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867144" y="2779776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install ×3 (O4)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867144" y="307238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tag · GTM template · via the Optimizely snippet itself — zero site-template access needed.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373075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3232" y="401421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34" name="Image 4" descr="/private/tmp/claude-501/-Users-bryanhopkins-AIChat-resort-ai-chatbot/485380a5-5fbc-481a-aba5-950dd47c1f1d/scratchpad/deck/icons/targe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96512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047488" y="3858768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47488" y="385876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207008" y="3822192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Optimizely OAuth connect (O5)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207008" y="411480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picker + scoped token vault, replacing pasted PATs.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08776" y="373075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373368" y="401421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41" name="Image 5" descr="/private/tmp/claude-501/-Users-bryanhopkins-AIChat-resort-ai-chatbot/485380a5-5fbc-481a-aba5-950dd47c1f1d/scratchpad/deck/icons/play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096512"/>
            <a:ext cx="201168" cy="20116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927080" y="3858768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927080" y="38587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6867144" y="382219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first run (O6)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6867144" y="411480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prototype + checklist: your first experiment in 30 minutes.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48640" y="489204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47" name="Image 6" descr="/private/tmp/claude-501/-Users-bryanhopkins-AIChat-resort-ai-chatbot/485380a5-5fbc-481a-aba5-950dd47c1f1d/scratchpad/deck/icons/alert-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193792"/>
            <a:ext cx="384048" cy="38404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371600" y="489204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Phase-1 rule: </a:t>
            </a:r>
            <a:pPr indent="0" marL="0">
              <a:buNone/>
            </a:pPr>
            <a:r>
              <a:rPr lang="en-US" sz="13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exists because a real onboarding step required insider knowledge. The exit test is a stranger onboarding with nobody in the room.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— THE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Authoring: agents that arrive knowing the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cpu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75688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66944" y="177393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66944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07008" y="17373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build agents (A1)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07008" y="2029968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Build — an agent runs in a cloud sandbox, streaming progress + screenshots into the console. THE anyone-can-use-it unlock.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08776" y="1645920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993392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3" name="Image 1" descr="/private/tmp/claude-501/-Users-bryanhopkins-AIChat-resort-ai-chatbot/485380a5-5fbc-481a-aba5-950dd47c1f1d/scratchpad/deck/icons/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7568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27080" y="177393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927080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867144" y="17373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opmc CLI (A2)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867144" y="2029968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opmc init &lt;key&gt;: clone, branch, symlink source, load skills, wire env. Cross-platform, idempotent.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816352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316382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0" name="Image 2" descr="/private/tmp/claude-501/-Users-bryanhopkins-AIChat-resort-ai-chatbot/485380a5-5fbc-481a-aba5-950dd47c1f1d/scratchpad/deck/icons/boo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266944" y="2944368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66944" y="29443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207008" y="290779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packs + versioning (A4)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07008" y="3200400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Per-platform packs (Optimizely Web/FX, VWO) and per-CMS packs (Optimizely CMS, AEM, Shopify). Import/export.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08776" y="2816352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73368" y="316382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7" name="Image 3" descr="/private/tmp/claude-501/-Users-bryanhopkins-AIChat-resort-ai-chatbot/485380a5-5fbc-481a-aba5-950dd47c1f1d/scratchpad/deck/icons/sear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246120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835640" y="2944368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835640" y="29443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867144" y="290779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intelligence (A5)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867144" y="3200400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data islands + DOM join keys, brand tokens, selector safety — derived at capture, delivered to every agent.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3986784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3232" y="433425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34" name="Image 4" descr="/private/tmp/claude-501/-Users-bryanhopkins-AIChat-resort-ai-chatbot/485380a5-5fbc-481a-aba5-950dd47c1f1d/scratchpad/deck/icons/edi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416552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047488" y="4114800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47488" y="41148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207008" y="4078224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templates (A6)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207008" y="437083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protocol + PATCH-back built; add per-experiment-type templates so briefs start structured.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08776" y="3986784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373368" y="433425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41" name="Image 5" descr="/private/tmp/claude-501/-Users-bryanhopkins-AIChat-resort-ai-chatbot/485380a5-5fbc-481a-aba5-950dd47c1f1d/scratchpad/deck/icons/chat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416552"/>
            <a:ext cx="201168" cy="20116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927080" y="4114800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927080" y="41148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6867144" y="407822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↔ agent chat (A8)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6867144" y="437083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the building agent next to the preview — approve, steer, iterate without a terminal.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Self-orientation (A7) is live: agents wake knowing the system, check freshness, and re-sync themselves — the hosted runtime inherits it for free.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—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certification: nothing ships on vibes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4206240"/>
          </a:xfrm>
          <a:prstGeom prst="roundRect">
            <a:avLst>
              <a:gd name="adj" fmla="val 1957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Certification Pipeline (R2)</a:t>
            </a:r>
            <a:endParaRPr lang="en-US" sz="1700" dirty="0"/>
          </a:p>
        </p:txBody>
      </p:sp>
      <p:pic>
        <p:nvPicPr>
          <p:cNvPr id="6" name="Image 0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134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2286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injection timing — early &lt;head&gt; AND post-load</a:t>
            </a:r>
            <a:endParaRPr lang="en-US" sz="1150" dirty="0"/>
          </a:p>
        </p:txBody>
      </p:sp>
      <p:pic>
        <p:nvPicPr>
          <p:cNvPr id="8" name="Image 1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7432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2715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— runs twice, applies once</a:t>
            </a:r>
            <a:endParaRPr lang="en-US" sz="1150" dirty="0"/>
          </a:p>
        </p:txBody>
      </p:sp>
      <p:pic>
        <p:nvPicPr>
          <p:cNvPr id="10" name="Image 2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729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31455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page re-renders (MutationObserver)</a:t>
            </a:r>
            <a:endParaRPr lang="en-US" sz="1150" dirty="0"/>
          </a:p>
        </p:txBody>
      </p:sp>
      <p:pic>
        <p:nvPicPr>
          <p:cNvPr id="12" name="Image 3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60273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5753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analytics or tracking added</a:t>
            </a:r>
            <a:endParaRPr lang="en-US" sz="1150" dirty="0"/>
          </a:p>
        </p:txBody>
      </p:sp>
      <p:pic>
        <p:nvPicPr>
          <p:cNvPr id="14" name="Image 4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032504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07008" y="40050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Same-origin assets only</a:t>
            </a:r>
            <a:endParaRPr lang="en-US" sz="1150" dirty="0"/>
          </a:p>
        </p:txBody>
      </p:sp>
      <p:pic>
        <p:nvPicPr>
          <p:cNvPr id="16" name="Image 5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462272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07008" y="44348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budget + flicker / CLS estimate</a:t>
            </a:r>
            <a:endParaRPr lang="en-US" sz="1150" dirty="0"/>
          </a:p>
        </p:txBody>
      </p:sp>
      <p:pic>
        <p:nvPicPr>
          <p:cNvPr id="18" name="Image 6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892040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07008" y="48646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Multi-viewport screenshot matrix</a:t>
            </a:r>
            <a:endParaRPr lang="en-US" sz="1150" dirty="0"/>
          </a:p>
        </p:txBody>
      </p:sp>
      <p:pic>
        <p:nvPicPr>
          <p:cNvPr id="20" name="Image 7" descr="/private/tmp/claude-501/-Users-bryanhopkins-AIChat-resort-ai-chatbot/485380a5-5fbc-481a-aba5-950dd47c1f1d/scratchpad/deck/icons/check-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5321808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207008" y="52943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 provenance — review-bytes = ship-bytes</a:t>
            </a:r>
            <a:endParaRPr lang="en-US" sz="1150" dirty="0"/>
          </a:p>
        </p:txBody>
      </p:sp>
      <p:sp>
        <p:nvSpPr>
          <p:cNvPr id="22" name="Shape 12"/>
          <p:cNvSpPr/>
          <p:nvPr/>
        </p:nvSpPr>
        <p:spPr>
          <a:xfrm>
            <a:off x="6812280" y="1645920"/>
            <a:ext cx="4828032" cy="1097280"/>
          </a:xfrm>
          <a:prstGeom prst="roundRect">
            <a:avLst>
              <a:gd name="adj" fmla="val 75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6976872" y="2011680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4" name="Image 8" descr="/private/tmp/claude-501/-Users-bryanhopkins-AIChat-resort-ai-chatbot/485380a5-5fbc-481a-aba5-950dd47c1f1d/scratchpad/deck/icons/eye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9168" y="2093976"/>
            <a:ext cx="201168" cy="201168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0707624" y="1773936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10707624" y="177393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27" name="Text 16"/>
          <p:cNvSpPr/>
          <p:nvPr/>
        </p:nvSpPr>
        <p:spPr>
          <a:xfrm>
            <a:off x="7470648" y="173736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links + gates (R1/R3)</a:t>
            </a:r>
            <a:endParaRPr lang="en-US" sz="1250" dirty="0"/>
          </a:p>
        </p:txBody>
      </p:sp>
      <p:sp>
        <p:nvSpPr>
          <p:cNvPr id="28" name="Text 17"/>
          <p:cNvSpPr/>
          <p:nvPr/>
        </p:nvSpPr>
        <p:spPr>
          <a:xfrm>
            <a:off x="7470648" y="2029968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Expiring review tokens, per-env gates, stakeholder comments and approvals on the live preview.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6812280" y="2852928"/>
            <a:ext cx="4828032" cy="1097280"/>
          </a:xfrm>
          <a:prstGeom prst="roundRect">
            <a:avLst>
              <a:gd name="adj" fmla="val 75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976872" y="3218688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31" name="Image 9" descr="/private/tmp/claude-501/-Users-bryanhopkins-AIChat-resort-ai-chatbot/485380a5-5fbc-481a-aba5-950dd47c1f1d/scratchpad/deck/icons/activity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168" y="3300984"/>
            <a:ext cx="201168" cy="201168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0835640" y="2980944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10835640" y="29809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34" name="Text 22"/>
          <p:cNvSpPr/>
          <p:nvPr/>
        </p:nvSpPr>
        <p:spPr>
          <a:xfrm>
            <a:off x="7470648" y="2944368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status (R4)</a:t>
            </a:r>
            <a:endParaRPr lang="en-US" sz="1250" dirty="0"/>
          </a:p>
        </p:txBody>
      </p:sp>
      <p:sp>
        <p:nvSpPr>
          <p:cNvPr id="35" name="Text 23"/>
          <p:cNvSpPr/>
          <p:nvPr/>
        </p:nvSpPr>
        <p:spPr>
          <a:xfrm>
            <a:off x="7470648" y="3236976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vs HEAD commit, cache age, artifact problems — staleness is a fact you poll, not a feeling.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6812280" y="4059936"/>
            <a:ext cx="4828032" cy="1097280"/>
          </a:xfrm>
          <a:prstGeom prst="roundRect">
            <a:avLst>
              <a:gd name="adj" fmla="val 75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6976872" y="4425696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38" name="Image 10" descr="/private/tmp/claude-501/-Users-bryanhopkins-AIChat-resort-ai-chatbot/485380a5-5fbc-481a-aba5-950dd47c1f1d/scratchpad/deck/icons/award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168" y="4507992"/>
            <a:ext cx="201168" cy="201168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10927080" y="4187952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10927080" y="41879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1" name="Text 28"/>
          <p:cNvSpPr/>
          <p:nvPr/>
        </p:nvSpPr>
        <p:spPr>
          <a:xfrm>
            <a:off x="7470648" y="4151376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“Certified” as a product surface</a:t>
            </a:r>
            <a:endParaRPr lang="en-US" sz="1250" dirty="0"/>
          </a:p>
        </p:txBody>
      </p:sp>
      <p:sp>
        <p:nvSpPr>
          <p:cNvPr id="42" name="Text 29"/>
          <p:cNvSpPr/>
          <p:nvPr/>
        </p:nvSpPr>
        <p:spPr>
          <a:xfrm>
            <a:off x="7470648" y="4443984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badge and report travel with the variation — into the program board, the bundle, and (one day) the Optimizely UI.</a:t>
            </a:r>
            <a:endParaRPr lang="en-US" sz="1000" dirty="0"/>
          </a:p>
        </p:txBody>
      </p:sp>
      <p:sp>
        <p:nvSpPr>
          <p:cNvPr id="43" name="Text 30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above encodes a failure we actually hit. The gate runs before every ship — hosted or local.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— SHIPPING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Ship: no paste, no drift, winners become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sen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75688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47488" y="1773936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47488" y="177393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07008" y="173736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push to Optimizely (S1)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07008" y="2029968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Create/update the variation's custom code on every version cut; read back and diff to verify. The clipboard retires.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08776" y="1645920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993392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3" name="Image 1" descr="/private/tmp/claude-501/-Users-bryanhopkins-AIChat-resort-ai-chatbot/485380a5-5fbc-481a-aba5-950dd47c1f1d/scratchpad/deck/icons/z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7568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27080" y="177393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927080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867144" y="17373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anti-flicker split (S2)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867144" y="2029968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above-the-fold styles and hoist only those into the platform's CSS slot — by analysis, not convention.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816352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3163824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0" name="Image 2" descr="/private/tmp/claude-501/-Users-bryanhopkins-AIChat-resort-ai-chatbot/485380a5-5fbc-481a-aba5-950dd47c1f1d/scratchpad/deck/icons/bo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175504" y="2944368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175504" y="29443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207008" y="290779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 + drift guard (S3)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07008" y="3200400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 immutable cuts; HEAD-moved warnings; manual handoff bundle for external repos.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08776" y="2816352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73368" y="3163824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27" name="Image 3" descr="/private/tmp/claude-501/-Users-bryanhopkins-AIChat-resort-ai-chatbot/485380a5-5fbc-481a-aba5-950dd47c1f1d/scratchpad/deck/icons/tren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246120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927080" y="2944368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927080" y="29443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867144" y="290779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read-back (S4)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867144" y="3200400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status and results displayed on the card. Display only — the platform owns the stats.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3986784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3232" y="4334256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34" name="Image 4" descr="/private/tmp/claude-501/-Users-bryanhopkins-AIChat-resort-ai-chatbot/485380a5-5fbc-481a-aba5-950dd47c1f1d/scratchpad/deck/icons/pr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416552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047488" y="4114800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47488" y="41148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207008" y="4078224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→ production PR (S5)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207008" y="437083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productionizes the winning variation against the real source. Handoff adapters per stack (Razor first, React next).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08776" y="3986784"/>
            <a:ext cx="5431536" cy="1060704"/>
          </a:xfrm>
          <a:prstGeom prst="roundRect">
            <a:avLst>
              <a:gd name="adj" fmla="val 7759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373368" y="4334256"/>
            <a:ext cx="365760" cy="36576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41" name="Image 5" descr="/private/tmp/claude-501/-Users-bryanhopkins-AIChat-resort-ai-chatbot/485380a5-5fbc-481a-aba5-950dd47c1f1d/scratchpad/deck/icons/branch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416552"/>
            <a:ext cx="201168" cy="20116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927080" y="4114800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927080" y="41148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6867144" y="407822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connectors (S6)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6867144" y="4370832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VWO, LaunchDarkly, AB Tasty behind the existing provider seam. Neutrality by design.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through-line: one artifact, one SHA, one record — from review to experiment to merged PR.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— RUN THE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Board: kanban over ground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1790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013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213055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— human or agent-submitted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51790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8013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67712" y="213055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+ hypothesis + metric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691640"/>
            <a:ext cx="151790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18013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67912" y="213055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49240" y="1691640"/>
            <a:ext cx="151790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18013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68112" y="213055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engaged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151790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18013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68312" y="213055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live-env approvals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49640" y="1691640"/>
            <a:ext cx="151790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20" name="Image 0" descr="/private/tmp/claude-501/-Users-bryanhopkins-AIChat-resort-ai-chatbot/485380a5-5fbc-481a-aba5-950dd47c1f1d/scratchpad/deck/icons/loc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1801368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68512" y="18013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668512" y="213055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— experiment live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0149840" y="1691640"/>
            <a:ext cx="151790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68712" y="18013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268712" y="213055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merged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" y="3291840"/>
            <a:ext cx="5431536" cy="859536"/>
          </a:xfrm>
          <a:prstGeom prst="roundRect">
            <a:avLst>
              <a:gd name="adj" fmla="val 957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" y="3538728"/>
            <a:ext cx="365760" cy="3657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8" name="Image 1" descr="/private/tmp/claude-501/-Users-bryanhopkins-AIChat-resort-ai-chatbot/485380a5-5fbc-481a-aba5-950dd47c1f1d/scratchpad/deck/icons/lay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621024"/>
            <a:ext cx="201168" cy="20116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266944" y="341985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266944" y="341985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207008" y="338328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stages (B2)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1207008" y="367588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advance and lock from real state: provisioned → built → certified → experiment LIVE (Optimizely API) → PR merged. The board can't lie.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208776" y="3291840"/>
            <a:ext cx="5431536" cy="859536"/>
          </a:xfrm>
          <a:prstGeom prst="roundRect">
            <a:avLst>
              <a:gd name="adj" fmla="val 957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373368" y="3538728"/>
            <a:ext cx="365760" cy="3657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35" name="Image 2" descr="/private/tmp/claude-501/-Users-bryanhopkins-AIChat-resort-ai-chatbot/485380a5-5fbc-481a-aba5-950dd47c1f1d/scratchpad/deck/icons/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621024"/>
            <a:ext cx="201168" cy="20116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0927080" y="341985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0927080" y="341985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867144" y="338328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= immutable (B2)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6867144" y="367588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experiment runs, the prototype is locked — nobody edits a live variation. Unlock comes from the platform, not a human.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48640" y="4251960"/>
            <a:ext cx="5431536" cy="859536"/>
          </a:xfrm>
          <a:prstGeom prst="roundRect">
            <a:avLst>
              <a:gd name="adj" fmla="val 957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13232" y="4498848"/>
            <a:ext cx="365760" cy="3657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42" name="Image 3" descr="/private/tmp/claude-501/-Users-bryanhopkins-AIChat-resort-ai-chatbot/485380a5-5fbc-481a-aba5-950dd47c1f1d/scratchpad/deck/icons/thumb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581144"/>
            <a:ext cx="201168" cy="201168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5266944" y="437997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266944" y="43799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1207008" y="434340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gates (B3)</a:t>
            </a:r>
            <a:endParaRPr lang="en-US" sz="1250" dirty="0"/>
          </a:p>
        </p:txBody>
      </p:sp>
      <p:sp>
        <p:nvSpPr>
          <p:cNvPr id="46" name="Text 40"/>
          <p:cNvSpPr/>
          <p:nvPr/>
        </p:nvSpPr>
        <p:spPr>
          <a:xfrm>
            <a:off x="1207008" y="463600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approval before build; review approval before ship; per-role permissions. Judgment gates, nowhere else.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208776" y="4251960"/>
            <a:ext cx="5431536" cy="859536"/>
          </a:xfrm>
          <a:prstGeom prst="roundRect">
            <a:avLst>
              <a:gd name="adj" fmla="val 957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373368" y="4498848"/>
            <a:ext cx="365760" cy="3657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49" name="Image 4" descr="/private/tmp/claude-501/-Users-bryanhopkins-AIChat-resort-ai-chatbot/485380a5-5fbc-481a-aba5-950dd47c1f1d/scratchpad/deck/icons/targe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4581144"/>
            <a:ext cx="201168" cy="201168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10707624" y="4379976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10707624" y="437997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6867144" y="434340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+ metric per card (B4)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6867144" y="463600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the data model — surfaced on every card, with templates per experiment type.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548640" y="5212080"/>
            <a:ext cx="5431536" cy="859536"/>
          </a:xfrm>
          <a:prstGeom prst="roundRect">
            <a:avLst>
              <a:gd name="adj" fmla="val 957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713232" y="5458968"/>
            <a:ext cx="365760" cy="3657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56" name="Image 5" descr="/private/tmp/claude-501/-Users-bryanhopkins-AIChat-resort-ai-chatbot/485380a5-5fbc-481a-aba5-950dd47c1f1d/scratchpad/deck/icons/chat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541264"/>
            <a:ext cx="201168" cy="201168"/>
          </a:xfrm>
          <a:prstGeom prst="rect">
            <a:avLst/>
          </a:prstGeom>
        </p:spPr>
      </p:pic>
      <p:sp>
        <p:nvSpPr>
          <p:cNvPr id="57" name="Shape 49"/>
          <p:cNvSpPr/>
          <p:nvPr/>
        </p:nvSpPr>
        <p:spPr>
          <a:xfrm>
            <a:off x="5047488" y="5340096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5047488" y="534009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59" name="Text 51"/>
          <p:cNvSpPr/>
          <p:nvPr/>
        </p:nvSpPr>
        <p:spPr>
          <a:xfrm>
            <a:off x="1207008" y="530352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→ Backlog (B5)</a:t>
            </a:r>
            <a:endParaRPr lang="en-US" sz="1250" dirty="0"/>
          </a:p>
        </p:txBody>
      </p:sp>
      <p:sp>
        <p:nvSpPr>
          <p:cNvPr id="60" name="Text 52"/>
          <p:cNvSpPr/>
          <p:nvPr/>
        </p:nvSpPr>
        <p:spPr>
          <a:xfrm>
            <a:off x="1207008" y="559612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turns an agent's or teammate's idea into a prototype stub with a draft brief.</a:t>
            </a:r>
            <a:endParaRPr lang="en-US" sz="1000" dirty="0"/>
          </a:p>
        </p:txBody>
      </p:sp>
      <p:sp>
        <p:nvSpPr>
          <p:cNvPr id="61" name="Shape 53"/>
          <p:cNvSpPr/>
          <p:nvPr/>
        </p:nvSpPr>
        <p:spPr>
          <a:xfrm>
            <a:off x="6208776" y="5212080"/>
            <a:ext cx="5431536" cy="859536"/>
          </a:xfrm>
          <a:prstGeom prst="roundRect">
            <a:avLst>
              <a:gd name="adj" fmla="val 957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6373368" y="5458968"/>
            <a:ext cx="365760" cy="3657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63" name="Image 6" descr="/private/tmp/claude-501/-Users-bryanhopkins-AIChat-resort-ai-chatbot/485380a5-5fbc-481a-aba5-950dd47c1f1d/scratchpad/deck/icons/db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5541264"/>
            <a:ext cx="201168" cy="201168"/>
          </a:xfrm>
          <a:prstGeom prst="rect">
            <a:avLst/>
          </a:prstGeom>
        </p:spPr>
      </p:pic>
      <p:sp>
        <p:nvSpPr>
          <p:cNvPr id="64" name="Shape 55"/>
          <p:cNvSpPr/>
          <p:nvPr/>
        </p:nvSpPr>
        <p:spPr>
          <a:xfrm>
            <a:off x="10927080" y="534009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10927080" y="5340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66" name="Text 57"/>
          <p:cNvSpPr/>
          <p:nvPr/>
        </p:nvSpPr>
        <p:spPr>
          <a:xfrm>
            <a:off x="6867144" y="53035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view (B6)</a:t>
            </a:r>
            <a:endParaRPr lang="en-US" sz="1250" dirty="0"/>
          </a:p>
        </p:txBody>
      </p:sp>
      <p:sp>
        <p:nvSpPr>
          <p:cNvPr id="67" name="Text 58"/>
          <p:cNvSpPr/>
          <p:nvPr/>
        </p:nvSpPr>
        <p:spPr>
          <a:xfrm>
            <a:off x="6867144" y="559612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prototype across brands: stage, owner, metric, what's live where. The exec answer.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— THE FLYWHEEL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loop: friction in, skills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685800"/>
          </a:xfrm>
          <a:prstGeom prst="roundRect">
            <a:avLst>
              <a:gd name="adj" fmla="val 12000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hits friction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42032" y="16916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98064" y="1691640"/>
            <a:ext cx="2029968" cy="685800"/>
          </a:xfrm>
          <a:prstGeom prst="roundRect">
            <a:avLst>
              <a:gd name="adj" fmla="val 12000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691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filed (attributed)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91456" y="16916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47488" y="1691640"/>
            <a:ext cx="2029968" cy="685800"/>
          </a:xfrm>
          <a:prstGeom prst="roundRect">
            <a:avLst>
              <a:gd name="adj" fmla="val 12000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691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→ backlog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0" y="16916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96912" y="1691640"/>
            <a:ext cx="2029968" cy="685800"/>
          </a:xfrm>
          <a:prstGeom prst="roundRect">
            <a:avLst>
              <a:gd name="adj" fmla="val 12000"/>
            </a:avLst>
          </a:prstGeom>
          <a:solidFill>
            <a:srgbClr val="18233B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691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/ check ships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90304" y="16916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46336" y="1691640"/>
            <a:ext cx="2029968" cy="685800"/>
          </a:xfrm>
          <a:prstGeom prst="roundRect">
            <a:avLst>
              <a:gd name="adj" fmla="val 12000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6064" y="1691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next session inherits 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98094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0" name="Image 0" descr="/private/tmp/claude-501/-Users-bryanhopkins-AIChat-resort-ai-chatbot/485380a5-5fbc-481a-aba5-950dd47c1f1d/scratchpad/deck/icons/cha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063240"/>
            <a:ext cx="201168" cy="201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175504" y="2825496"/>
            <a:ext cx="65836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75504" y="28254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207008" y="278892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channel (L1)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207008" y="308152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 — proved same-day: an agent's feedback became a shipped extractor fix.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08776" y="269748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73368" y="298094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7" name="Image 1" descr="/private/tmp/claude-501/-Users-bryanhopkins-AIChat-resort-ai-chatbot/485380a5-5fbc-481a-aba5-950dd47c1f1d/scratchpad/deck/icons/refres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3063240"/>
            <a:ext cx="201168" cy="20116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10927080" y="282549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927080" y="28254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867144" y="27889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agent (L2)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867144" y="308152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ship, a session review proposes skill updates and new certification checks. Human-approved.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48640" y="373989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13232" y="4023360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34" name="Image 2" descr="/private/tmp/claude-501/-Users-bryanhopkins-AIChat-resort-ai-chatbot/485380a5-5fbc-481a-aba5-950dd47c1f1d/scratchpad/deck/icons/p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05656"/>
            <a:ext cx="201168" cy="201168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5266944" y="3867912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266944" y="38679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207008" y="383133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→ draft PR (L3)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1207008" y="412394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Code-shaped ideas become draft PRs against the console by a maintenance agent. Humans always merge.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208776" y="373989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373368" y="4023360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41" name="Image 3" descr="/private/tmp/claude-501/-Users-bryanhopkins-AIChat-resort-ai-chatbot/485380a5-5fbc-481a-aba5-950dd47c1f1d/scratchpad/deck/icons/tren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105656"/>
            <a:ext cx="201168" cy="201168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10927080" y="3867912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0927080" y="38679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6867144" y="383133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analytics (L4)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6867144" y="412394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skills cut iterations, raise certification pass rates, speed up ships. Knowledge, measured.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548640" y="478231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13232" y="506577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48" name="Image 4" descr="/private/tmp/claude-501/-Users-bryanhopkins-AIChat-resort-ai-chatbot/485380a5-5fbc-481a-aba5-950dd47c1f1d/scratchpad/deck/icons/activity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148072"/>
            <a:ext cx="201168" cy="201168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5266944" y="4910328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5266944" y="49103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1207008" y="487375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telemetry (L5)</a:t>
            </a:r>
            <a:endParaRPr lang="en-US" sz="1250" dirty="0"/>
          </a:p>
        </p:txBody>
      </p:sp>
      <p:sp>
        <p:nvSpPr>
          <p:cNvPr id="52" name="Text 45"/>
          <p:cNvSpPr/>
          <p:nvPr/>
        </p:nvSpPr>
        <p:spPr>
          <a:xfrm>
            <a:off x="1207008" y="516636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Time-to-live, cert pass rate, native-ship rate, zero-paste rate — the dashboard that proves the thesis.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6208776" y="478231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6373368" y="506577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55" name="Image 5" descr="/private/tmp/claude-501/-Users-bryanhopkins-AIChat-resort-ai-chatbot/485380a5-5fbc-481a-aba5-950dd47c1f1d/scratchpad/deck/icons/boo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5148072"/>
            <a:ext cx="201168" cy="201168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10927080" y="4910328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10927080" y="49103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58" name="Text 50"/>
          <p:cNvSpPr/>
          <p:nvPr/>
        </p:nvSpPr>
        <p:spPr>
          <a:xfrm>
            <a:off x="6867144" y="487375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packs (A4)</a:t>
            </a:r>
            <a:endParaRPr lang="en-US" sz="1250" dirty="0"/>
          </a:p>
        </p:txBody>
      </p:sp>
      <p:sp>
        <p:nvSpPr>
          <p:cNvPr id="59" name="Text 51"/>
          <p:cNvSpPr/>
          <p:nvPr/>
        </p:nvSpPr>
        <p:spPr>
          <a:xfrm>
            <a:off x="6867144" y="516636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distribution vehicle: platform + CMS packs turn accumulated knowledge into onboarding speed.</a:t>
            </a:r>
            <a:endParaRPr lang="en-US" sz="1000" dirty="0"/>
          </a:p>
        </p:txBody>
      </p:sp>
      <p:sp>
        <p:nvSpPr>
          <p:cNvPr id="60" name="Text 52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that keeps it safe: agents propose, humans approve. The flywheel accelerates the platform — it never steers it alone.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— SHIPPABLE AS A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hardening &amp; widening the addressable web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938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6" name="Image 0" descr="/private/tmp/claude-501/-Users-bryanhopkins-AIChat-resort-ai-chatbot/485380a5-5fbc-481a-aba5-950dd47c1f1d/scratchpad/deck/icons/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11680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47488" y="1773936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47488" y="177393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07008" y="173736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vault + token health (E3)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07008" y="202996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at rest; scheduled write-probes; expiry alerts before a dead PAT breaks a build.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08776" y="1645920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929384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13" name="Image 1" descr="/private/tmp/claude-501/-Users-bryanhopkins-AIChat-resort-ai-chatbot/485380a5-5fbc-481a-aba5-950dd47c1f1d/scratchpad/deck/icons/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1168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927080" y="1773936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927080" y="1773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867144" y="17373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security (E4)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867144" y="2029968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SRI, key rotation, kill switch, stage gating, expiring review tokens. We inject JS into production sites — harden first.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2971800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0" name="Image 2" descr="/private/tmp/claude-501/-Users-bryanhopkins-AIChat-resort-ai-chatbot/485380a5-5fbc-481a-aba5-950dd47c1f1d/scratchpad/deck/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054096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47488" y="2816352"/>
            <a:ext cx="786384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47488" y="281635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207008" y="2779776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SSO/SCIM (E2)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07008" y="307238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builder / reviewer / dev; SAML; audit log surfaced. Enterprise table stakes.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08776" y="2688336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73368" y="2971800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27" name="Image 3" descr="/private/tmp/claude-501/-Users-bryanhopkins-AIChat-resort-ai-chatbot/485380a5-5fbc-481a-aba5-950dd47c1f1d/scratchpad/deck/icons/db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054096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927080" y="2816352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927080" y="28163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867144" y="277977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schema + migrations (E1)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867144" y="3072384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ideas, selections out of the flag store and into proper tables.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373075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3232" y="401421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34" name="Image 4" descr="/private/tmp/claude-501/-Users-bryanhopkins-AIChat-resort-ai-chatbot/485380a5-5fbc-481a-aba5-950dd47c1f1d/scratchpad/deck/icons/dollar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96512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266944" y="3858768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266944" y="38587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207008" y="382219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+ metering (E5)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207008" y="411480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seats, agent-run minutes, prototype counts.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08776" y="3730752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373368" y="4014216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41" name="Image 5" descr="/private/tmp/claude-501/-Users-bryanhopkins-AIChat-resort-ai-chatbot/485380a5-5fbc-481a-aba5-950dd47c1f1d/scratchpad/deck/icons/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096512"/>
            <a:ext cx="201168" cy="201168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927080" y="3858768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927080" y="38587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6867144" y="382219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+ pen test (E6)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6867144" y="4114800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clock early — it gates every enterprise logo and every acquirer's diligence.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48640" y="4773168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13232" y="5056632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48" name="Image 6" descr="/private/tmp/claude-501/-Users-bryanhopkins-AIChat-resort-ai-chatbot/485380a5-5fbc-481a-aba5-950dd47c1f1d/scratchpad/deck/icons/monitor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138928"/>
            <a:ext cx="201168" cy="201168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5266944" y="4901184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5266944" y="490118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1207008" y="4864608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Browser-extension capture (P1)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1207008" y="5157216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DOM + data + styles from a live authenticated session — SPAs and login-walled pages in one move.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6208776" y="4773168"/>
            <a:ext cx="5431536" cy="932688"/>
          </a:xfrm>
          <a:prstGeom prst="roundRect">
            <a:avLst>
              <a:gd name="adj" fmla="val 8824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6373368" y="5056632"/>
            <a:ext cx="365760" cy="365760"/>
          </a:xfrm>
          <a:prstGeom prst="ellipse">
            <a:avLst/>
          </a:prstGeom>
          <a:solidFill>
            <a:srgbClr val="4D8DFF"/>
          </a:solidFill>
          <a:ln/>
        </p:spPr>
      </p:sp>
      <p:pic>
        <p:nvPicPr>
          <p:cNvPr id="55" name="Image 7" descr="/private/tmp/claude-501/-Users-bryanhopkins-AIChat-resort-ai-chatbot/485380a5-5fbc-481a-aba5-950dd47c1f1d/scratchpad/deck/icons/feather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5138928"/>
            <a:ext cx="201168" cy="201168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10927080" y="4901184"/>
            <a:ext cx="566928" cy="237744"/>
          </a:xfrm>
          <a:prstGeom prst="roundRect">
            <a:avLst>
              <a:gd name="adj" fmla="val 34615"/>
            </a:avLst>
          </a:prstGeom>
          <a:solidFill>
            <a:srgbClr val="202E4E"/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10927080" y="490118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58" name="Text 48"/>
          <p:cNvSpPr/>
          <p:nvPr/>
        </p:nvSpPr>
        <p:spPr>
          <a:xfrm>
            <a:off x="6867144" y="4864608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toolkit + first-party loader (P2)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6867144" y="5157216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at onboarding; nonce/allowlist guidance; loader on the customer's own domain via CNAME.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feels what, when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06624" cy="406908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105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0–6 wks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1031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sharp edges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724912"/>
            <a:ext cx="1737360" cy="292608"/>
          </a:xfrm>
          <a:prstGeom prst="roundRect">
            <a:avLst>
              <a:gd name="adj" fmla="val 2812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 FEEL 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3182112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App · CLI · API push (no paste) · compatibility verdict · certification v1 · token health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" y="4617720"/>
            <a:ext cx="2414016" cy="960120"/>
          </a:xfrm>
          <a:prstGeom prst="roundRect">
            <a:avLst>
              <a:gd name="adj" fmla="val 8571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1772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a stranger onboards, builds, ships — nobody in the room.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55848" y="1645920"/>
            <a:ext cx="2706624" cy="406908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18105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6–14 wks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7016" y="21031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use it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3538728" y="2724912"/>
            <a:ext cx="1737360" cy="292608"/>
          </a:xfrm>
          <a:prstGeom prst="roundRect">
            <a:avLst>
              <a:gd name="adj" fmla="val 2812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MARKETERS FEEL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57016" y="3182112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agents · console chat · Program Board v1 · brief templates · tenant #2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02152" y="4617720"/>
            <a:ext cx="2414016" cy="960120"/>
          </a:xfrm>
          <a:prstGeom prst="roundRect">
            <a:avLst>
              <a:gd name="adj" fmla="val 8571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461772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a non-developer ships a certified experiment from the browser.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63056" y="1645920"/>
            <a:ext cx="2706624" cy="406908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8105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3–6 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4224" y="21031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compounds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345936" y="2724912"/>
            <a:ext cx="1737360" cy="292608"/>
          </a:xfrm>
          <a:prstGeom prst="roundRect">
            <a:avLst>
              <a:gd name="adj" fmla="val 2812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FEELS 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64224" y="3182112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Winner→PR (React) · results read-back · retrospectives · sign-off gates · portfolio · connector #2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4617720"/>
            <a:ext cx="2414016" cy="960120"/>
          </a:xfrm>
          <a:prstGeom prst="roundRect">
            <a:avLst>
              <a:gd name="adj" fmla="val 8571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461772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a winner merges as a production PR on a non-.NET stack.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70264" y="1645920"/>
            <a:ext cx="2706624" cy="406908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71432" y="18105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· 6–12 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71432" y="210312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53144" y="2724912"/>
            <a:ext cx="1737360" cy="292608"/>
          </a:xfrm>
          <a:prstGeom prst="roundRect">
            <a:avLst>
              <a:gd name="adj" fmla="val 28125"/>
            </a:avLst>
          </a:prstGeom>
          <a:solidFill>
            <a:srgbClr val="202E4E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FEEL IT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71432" y="3182112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· SSO/SCIM · loader hardening · billing · extension capture · telemetry dashboards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16568" y="4617720"/>
            <a:ext cx="2414016" cy="960120"/>
          </a:xfrm>
          <a:prstGeom prst="roundRect">
            <a:avLst>
              <a:gd name="adj" fmla="val 8571"/>
            </a:avLst>
          </a:prstGeom>
          <a:solidFill>
            <a:srgbClr val="202E4E"/>
          </a:solidFill>
          <a:ln w="12700">
            <a:solidFill>
              <a:srgbClr val="202E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44584" y="461772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diligence-ready — connectors, logo, metrics proving the thesis.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rule: nothing in Phase 2+ starts while a Phase-1 sharp edge still exists.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 — human judgment where it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06624" cy="356616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28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 / PM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briefs, owns hypothesis + metric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briefs and reviews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board; decides winners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touches code or terminals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706624" cy="356616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1828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57016" y="23317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Power-user local mode (CLI + repo)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and merges winner PRs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skills and adapters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production source, always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1645920"/>
            <a:ext cx="2706624" cy="356616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28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317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variations in real code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on thin briefs; syncs itself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ideas from inside the work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— never merges, never ships alone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70264" y="1645920"/>
            <a:ext cx="2706624" cy="3566160"/>
          </a:xfrm>
          <a:prstGeom prst="roundRect">
            <a:avLst>
              <a:gd name="adj" fmla="val 3041"/>
            </a:avLst>
          </a:prstGeom>
          <a:solidFill>
            <a:srgbClr val="18233B"/>
          </a:solidFill>
          <a:ln w="12700">
            <a:solidFill>
              <a:srgbClr val="182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18288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71432" y="23317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context, skills, versions, gates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certification on every ship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to Optimizely by API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everything — SHA-pinned, audited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202E4E"/>
          </a:solidFill>
          <a:ln w="12700">
            <a:solidFill>
              <a:srgbClr val="2EE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48640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in one line: </a:t>
            </a:r>
            <a:pPr indent="0" marL="0">
              <a:buNone/>
            </a:pPr>
            <a:r>
              <a:rPr lang="en-US" sz="1500" dirty="0">
                <a:solidFill>
                  <a:srgbClr val="C9D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the work, the console proves the work, humans approve the work.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OPMC Feature Outline — Developers &amp; Marketers</dc:title>
  <dc:subject>PptxGenJS Presentation</dc:subject>
  <dc:creator>INHQ</dc:creator>
  <cp:lastModifiedBy>INHQ</cp:lastModifiedBy>
  <cp:revision>1</cp:revision>
  <dcterms:created xsi:type="dcterms:W3CDTF">2026-07-23T19:51:23Z</dcterms:created>
  <dcterms:modified xsi:type="dcterms:W3CDTF">2026-07-23T19:51:23Z</dcterms:modified>
</cp:coreProperties>
</file>