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fair to Opal, brutal on the gap. Everything quoted is from Optimizely's own support documentation as of July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fair makes the gap credible. Opal is not a strawman — it is a deliberate scope decision, and the scope line is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spine. Nothing here is our characterization — it is their documentation, current as of July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1+2 combined: editor-bound authoring and the MCP exclusion are the same scope decision seen from inside and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support-scope quote is the Certified Variations pitch written by the platform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4+5 from the analysis. This is the user's original insight verbatim: team-build, git-driven vs isolated per-experiment.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6+7. The 'first honest render is in production' line is the risk statement enterprise buyers feel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knock on Gemini or Claude — a knock on unpinnable, unauditable allocation for changes to production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rows carry the credibility: the editor-assist row concedes Opal's strength, the last row concedes the platform's — which makes the nine ✗/✗/✓ rows in between land as fact, not marketing. ◐ on our side marks certification, winner-PR and program board as in-build per the phased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Closer for the gap story: the needs list maps one-to-one onto the gaps, and most of the answer is already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 for an enterprise buyer or for Optimizely corp dev — the same gaps sell both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548640"/>
            <a:ext cx="8686800" cy="274320"/>
          </a:xfrm>
          <a:prstGeom prst="rect">
            <a:avLst/>
          </a:prstGeom>
          <a:noFill/>
          <a:ln/>
        </p:spPr>
        <p:txBody>
          <a:bodyPr wrap="square" lIns="0" tIns="0" rIns="0" bIns="0" rtlCol="0" anchor="ctr"/>
          <a:lstStyle/>
          <a:p>
            <a:pPr indent="0" marL="0">
              <a:buNone/>
            </a:pPr>
            <a:r>
              <a:rPr lang="en-US" sz="1100" b="1" spc="300" kern="0" dirty="0">
                <a:solidFill>
                  <a:srgbClr val="4D8DFF"/>
                </a:solidFill>
                <a:latin typeface="Arial" pitchFamily="34" charset="0"/>
                <a:ea typeface="Arial" pitchFamily="34" charset="-122"/>
                <a:cs typeface="Arial" pitchFamily="34" charset="-120"/>
              </a:rPr>
              <a:t>AGENTIC EXPERIMENTATION AT THE ENTERPRISE  ·  JULY 2026</a:t>
            </a:r>
            <a:endParaRPr lang="en-US" sz="1100" dirty="0"/>
          </a:p>
        </p:txBody>
      </p:sp>
      <p:sp>
        <p:nvSpPr>
          <p:cNvPr id="3" name="Text 1"/>
          <p:cNvSpPr/>
          <p:nvPr/>
        </p:nvSpPr>
        <p:spPr>
          <a:xfrm>
            <a:off x="548640" y="1371600"/>
            <a:ext cx="1060704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The Opal Gap</a:t>
            </a:r>
            <a:endParaRPr lang="en-US" sz="5400" dirty="0"/>
          </a:p>
        </p:txBody>
      </p:sp>
      <p:sp>
        <p:nvSpPr>
          <p:cNvPr id="4" name="Text 2"/>
          <p:cNvSpPr/>
          <p:nvPr/>
        </p:nvSpPr>
        <p:spPr>
          <a:xfrm>
            <a:off x="548640" y="2514600"/>
            <a:ext cx="10424160" cy="822960"/>
          </a:xfrm>
          <a:prstGeom prst="rect">
            <a:avLst/>
          </a:prstGeom>
          <a:noFill/>
          <a:ln/>
        </p:spPr>
        <p:txBody>
          <a:bodyPr wrap="square" lIns="0" tIns="0" rIns="0" bIns="0" rtlCol="0" anchor="ctr"/>
          <a:lstStyle/>
          <a:p>
            <a:pPr indent="0" marL="0">
              <a:buNone/>
            </a:pPr>
            <a:r>
              <a:rPr lang="en-US" sz="1800" dirty="0">
                <a:solidFill>
                  <a:srgbClr val="C9D8F2"/>
                </a:solidFill>
                <a:latin typeface="Arial" pitchFamily="34" charset="0"/>
                <a:ea typeface="Arial" pitchFamily="34" charset="-122"/>
                <a:cs typeface="Arial" pitchFamily="34" charset="-120"/>
              </a:rPr>
              <a:t>Editor agents demo beautifully. Enterprise experimentation programs need code, provenance, teams, and truth — and the platform's own documentation says its agents don't go there.</a:t>
            </a:r>
            <a:endParaRPr lang="en-US" sz="1800" dirty="0"/>
          </a:p>
        </p:txBody>
      </p:sp>
      <p:sp>
        <p:nvSpPr>
          <p:cNvPr id="5" name="Shape 3"/>
          <p:cNvSpPr/>
          <p:nvPr/>
        </p:nvSpPr>
        <p:spPr>
          <a:xfrm>
            <a:off x="548640" y="3749040"/>
            <a:ext cx="3602736" cy="731520"/>
          </a:xfrm>
          <a:prstGeom prst="roundRect">
            <a:avLst>
              <a:gd name="adj" fmla="val 11250"/>
            </a:avLst>
          </a:prstGeom>
          <a:solidFill>
            <a:srgbClr val="18233B"/>
          </a:solidFill>
          <a:ln w="12700">
            <a:solidFill>
              <a:srgbClr val="2A3A5E"/>
            </a:solidFill>
            <a:prstDash val="solid"/>
          </a:ln>
        </p:spPr>
      </p:sp>
      <p:pic>
        <p:nvPicPr>
          <p:cNvPr id="6" name="Image 0" descr="/private/tmp/claude-501/-Users-bryanhopkins-AIChat-resort-ai-chatbot/485380a5-5fbc-481a-aba5-950dd47c1f1d/scratchpad/deck/icons/search-blue.png">    </p:cNvPr>
          <p:cNvPicPr>
            <a:picLocks noChangeAspect="1"/>
          </p:cNvPicPr>
          <p:nvPr/>
        </p:nvPicPr>
        <p:blipFill>
          <a:blip r:embed="rId1"/>
          <a:stretch>
            <a:fillRect/>
          </a:stretch>
        </p:blipFill>
        <p:spPr>
          <a:xfrm>
            <a:off x="749808" y="3968496"/>
            <a:ext cx="292608" cy="292608"/>
          </a:xfrm>
          <a:prstGeom prst="rect">
            <a:avLst/>
          </a:prstGeom>
        </p:spPr>
      </p:pic>
      <p:sp>
        <p:nvSpPr>
          <p:cNvPr id="7" name="Text 4"/>
          <p:cNvSpPr/>
          <p:nvPr/>
        </p:nvSpPr>
        <p:spPr>
          <a:xfrm>
            <a:off x="1170432" y="3749040"/>
            <a:ext cx="2880360" cy="731520"/>
          </a:xfrm>
          <a:prstGeom prst="rect">
            <a:avLst/>
          </a:prstGeom>
          <a:noFill/>
          <a:ln/>
        </p:spPr>
        <p:txBody>
          <a:bodyPr wrap="square" lIns="0" tIns="0" rIns="0" bIns="0" rtlCol="0" anchor="ctr"/>
          <a:lstStyle/>
          <a:p>
            <a:pPr indent="0" marL="0">
              <a:buNone/>
            </a:pPr>
            <a:r>
              <a:rPr lang="en-US" sz="1150" dirty="0">
                <a:solidFill>
                  <a:srgbClr val="C9D8F2"/>
                </a:solidFill>
                <a:latin typeface="Arial" pitchFamily="34" charset="0"/>
                <a:ea typeface="Arial" pitchFamily="34" charset="-122"/>
                <a:cs typeface="Arial" pitchFamily="34" charset="-120"/>
              </a:rPr>
              <a:t>Every claim sourced from Optimizely's current docs</a:t>
            </a:r>
            <a:endParaRPr lang="en-US" sz="1150" dirty="0"/>
          </a:p>
        </p:txBody>
      </p:sp>
      <p:sp>
        <p:nvSpPr>
          <p:cNvPr id="8" name="Shape 5"/>
          <p:cNvSpPr/>
          <p:nvPr/>
        </p:nvSpPr>
        <p:spPr>
          <a:xfrm>
            <a:off x="4288536" y="3749040"/>
            <a:ext cx="3602736" cy="731520"/>
          </a:xfrm>
          <a:prstGeom prst="roundRect">
            <a:avLst>
              <a:gd name="adj" fmla="val 11250"/>
            </a:avLst>
          </a:prstGeom>
          <a:solidFill>
            <a:srgbClr val="18233B"/>
          </a:solidFill>
          <a:ln w="12700">
            <a:solidFill>
              <a:srgbClr val="2A3A5E"/>
            </a:solidFill>
            <a:prstDash val="solid"/>
          </a:ln>
        </p:spPr>
      </p:sp>
      <p:pic>
        <p:nvPicPr>
          <p:cNvPr id="9" name="Image 1" descr="/private/tmp/claude-501/-Users-bryanhopkins-AIChat-resort-ai-chatbot/485380a5-5fbc-481a-aba5-950dd47c1f1d/scratchpad/deck/icons/check-blue.png">    </p:cNvPr>
          <p:cNvPicPr>
            <a:picLocks noChangeAspect="1"/>
          </p:cNvPicPr>
          <p:nvPr/>
        </p:nvPicPr>
        <p:blipFill>
          <a:blip r:embed="rId2"/>
          <a:stretch>
            <a:fillRect/>
          </a:stretch>
        </p:blipFill>
        <p:spPr>
          <a:xfrm>
            <a:off x="4489704" y="3968496"/>
            <a:ext cx="292608" cy="292608"/>
          </a:xfrm>
          <a:prstGeom prst="rect">
            <a:avLst/>
          </a:prstGeom>
        </p:spPr>
      </p:pic>
      <p:sp>
        <p:nvSpPr>
          <p:cNvPr id="10" name="Text 6"/>
          <p:cNvSpPr/>
          <p:nvPr/>
        </p:nvSpPr>
        <p:spPr>
          <a:xfrm>
            <a:off x="4910328" y="3749040"/>
            <a:ext cx="2880360" cy="731520"/>
          </a:xfrm>
          <a:prstGeom prst="rect">
            <a:avLst/>
          </a:prstGeom>
          <a:noFill/>
          <a:ln/>
        </p:spPr>
        <p:txBody>
          <a:bodyPr wrap="square" lIns="0" tIns="0" rIns="0" bIns="0" rtlCol="0" anchor="ctr"/>
          <a:lstStyle/>
          <a:p>
            <a:pPr indent="0" marL="0">
              <a:buNone/>
            </a:pPr>
            <a:r>
              <a:rPr lang="en-US" sz="1150" dirty="0">
                <a:solidFill>
                  <a:srgbClr val="C9D8F2"/>
                </a:solidFill>
                <a:latin typeface="Arial" pitchFamily="34" charset="0"/>
                <a:ea typeface="Arial" pitchFamily="34" charset="-122"/>
                <a:cs typeface="Arial" pitchFamily="34" charset="-120"/>
              </a:rPr>
              <a:t>Verified against a live enterprise deployment</a:t>
            </a:r>
            <a:endParaRPr lang="en-US" sz="1150" dirty="0"/>
          </a:p>
        </p:txBody>
      </p:sp>
      <p:sp>
        <p:nvSpPr>
          <p:cNvPr id="11" name="Shape 7"/>
          <p:cNvSpPr/>
          <p:nvPr/>
        </p:nvSpPr>
        <p:spPr>
          <a:xfrm>
            <a:off x="8028432" y="3749040"/>
            <a:ext cx="3602736" cy="731520"/>
          </a:xfrm>
          <a:prstGeom prst="roundRect">
            <a:avLst>
              <a:gd name="adj" fmla="val 11250"/>
            </a:avLst>
          </a:prstGeom>
          <a:solidFill>
            <a:srgbClr val="18233B"/>
          </a:solidFill>
          <a:ln w="12700">
            <a:solidFill>
              <a:srgbClr val="2A3A5E"/>
            </a:solidFill>
            <a:prstDash val="solid"/>
          </a:ln>
        </p:spPr>
      </p:sp>
      <p:pic>
        <p:nvPicPr>
          <p:cNvPr id="12" name="Image 2" descr="/private/tmp/claude-501/-Users-bryanhopkins-AIChat-resort-ai-chatbot/485380a5-5fbc-481a-aba5-950dd47c1f1d/scratchpad/deck/icons/zap-blue.png">    </p:cNvPr>
          <p:cNvPicPr>
            <a:picLocks noChangeAspect="1"/>
          </p:cNvPicPr>
          <p:nvPr/>
        </p:nvPicPr>
        <p:blipFill>
          <a:blip r:embed="rId3"/>
          <a:stretch>
            <a:fillRect/>
          </a:stretch>
        </p:blipFill>
        <p:spPr>
          <a:xfrm>
            <a:off x="8229600" y="3968496"/>
            <a:ext cx="292608" cy="292608"/>
          </a:xfrm>
          <a:prstGeom prst="rect">
            <a:avLst/>
          </a:prstGeom>
        </p:spPr>
      </p:pic>
      <p:sp>
        <p:nvSpPr>
          <p:cNvPr id="13" name="Text 8"/>
          <p:cNvSpPr/>
          <p:nvPr/>
        </p:nvSpPr>
        <p:spPr>
          <a:xfrm>
            <a:off x="8650224" y="3749040"/>
            <a:ext cx="2880360" cy="731520"/>
          </a:xfrm>
          <a:prstGeom prst="rect">
            <a:avLst/>
          </a:prstGeom>
          <a:noFill/>
          <a:ln/>
        </p:spPr>
        <p:txBody>
          <a:bodyPr wrap="square" lIns="0" tIns="0" rIns="0" bIns="0" rtlCol="0" anchor="ctr"/>
          <a:lstStyle/>
          <a:p>
            <a:pPr indent="0" marL="0">
              <a:buNone/>
            </a:pPr>
            <a:r>
              <a:rPr lang="en-US" sz="1150" dirty="0">
                <a:solidFill>
                  <a:srgbClr val="C9D8F2"/>
                </a:solidFill>
                <a:latin typeface="Arial" pitchFamily="34" charset="0"/>
                <a:ea typeface="Arial" pitchFamily="34" charset="-122"/>
                <a:cs typeface="Arial" pitchFamily="34" charset="-120"/>
              </a:rPr>
              <a:t>The alternative exists and runs today</a:t>
            </a:r>
            <a:endParaRPr lang="en-US" sz="1150" dirty="0"/>
          </a:p>
        </p:txBody>
      </p:sp>
      <p:sp>
        <p:nvSpPr>
          <p:cNvPr id="14" name="Text 9"/>
          <p:cNvSpPr/>
          <p:nvPr/>
        </p:nvSpPr>
        <p:spPr>
          <a:xfrm>
            <a:off x="548640" y="6172200"/>
            <a:ext cx="9144000" cy="27432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OPMC (working name)  ·  companion: docs/OPAL-GAP-ANALYSIS.md  ·  bryan@inhq.com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4D8DFF"/>
                </a:solidFill>
                <a:latin typeface="Arial" pitchFamily="34" charset="0"/>
                <a:ea typeface="Arial" pitchFamily="34" charset="-122"/>
                <a:cs typeface="Arial" pitchFamily="34" charset="-120"/>
              </a:rPr>
              <a:t>CREDIT WHERE DUE</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Opal is real — and scoped to the marketer in the editor</a:t>
            </a:r>
            <a:endParaRPr lang="en-US" sz="3000" dirty="0"/>
          </a:p>
        </p:txBody>
      </p:sp>
      <p:sp>
        <p:nvSpPr>
          <p:cNvPr id="4" name="Shape 2"/>
          <p:cNvSpPr/>
          <p:nvPr/>
        </p:nvSpPr>
        <p:spPr>
          <a:xfrm>
            <a:off x="548640" y="1645920"/>
            <a:ext cx="5431536" cy="1170432"/>
          </a:xfrm>
          <a:prstGeom prst="roundRect">
            <a:avLst>
              <a:gd name="adj" fmla="val 7031"/>
            </a:avLst>
          </a:prstGeom>
          <a:solidFill>
            <a:srgbClr val="18233B"/>
          </a:solidFill>
          <a:ln w="12700">
            <a:solidFill>
              <a:srgbClr val="18233B"/>
            </a:solidFill>
            <a:prstDash val="solid"/>
          </a:ln>
        </p:spPr>
      </p:sp>
      <p:sp>
        <p:nvSpPr>
          <p:cNvPr id="5" name="Shape 3"/>
          <p:cNvSpPr/>
          <p:nvPr/>
        </p:nvSpPr>
        <p:spPr>
          <a:xfrm>
            <a:off x="749808" y="1865376"/>
            <a:ext cx="420624" cy="420624"/>
          </a:xfrm>
          <a:prstGeom prst="ellipse">
            <a:avLst/>
          </a:prstGeom>
          <a:solidFill>
            <a:srgbClr val="4D8DFF"/>
          </a:solidFill>
          <a:ln/>
        </p:spPr>
      </p:sp>
      <p:pic>
        <p:nvPicPr>
          <p:cNvPr id="6" name="Image 0" descr="/private/tmp/claude-501/-Users-bryanhopkins-AIChat-resort-ai-chatbot/485380a5-5fbc-481a-aba5-950dd47c1f1d/scratchpad/deck/icons/cpu-white.png">    </p:cNvPr>
          <p:cNvPicPr>
            <a:picLocks noChangeAspect="1"/>
          </p:cNvPicPr>
          <p:nvPr/>
        </p:nvPicPr>
        <p:blipFill>
          <a:blip r:embed="rId1"/>
          <a:stretch>
            <a:fillRect/>
          </a:stretch>
        </p:blipFill>
        <p:spPr>
          <a:xfrm>
            <a:off x="844448" y="1960016"/>
            <a:ext cx="231343" cy="231343"/>
          </a:xfrm>
          <a:prstGeom prst="rect">
            <a:avLst/>
          </a:prstGeom>
        </p:spPr>
      </p:pic>
      <p:sp>
        <p:nvSpPr>
          <p:cNvPr id="7" name="Text 4"/>
          <p:cNvSpPr/>
          <p:nvPr/>
        </p:nvSpPr>
        <p:spPr>
          <a:xfrm>
            <a:off x="1325880" y="1792224"/>
            <a:ext cx="4471416"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Agent orchestration across Optimizely One</a:t>
            </a:r>
            <a:endParaRPr lang="en-US" sz="1450" dirty="0"/>
          </a:p>
        </p:txBody>
      </p:sp>
      <p:sp>
        <p:nvSpPr>
          <p:cNvPr id="8" name="Text 5"/>
          <p:cNvSpPr/>
          <p:nvPr/>
        </p:nvSpPr>
        <p:spPr>
          <a:xfrm>
            <a:off x="1325880" y="2157984"/>
            <a:ext cx="4425696" cy="621792"/>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15+ out-of-the-box agents in 2026: experiment review, program overview, conflict checker, value estimator, competitive analysis.</a:t>
            </a:r>
            <a:endParaRPr lang="en-US" sz="1100" dirty="0"/>
          </a:p>
        </p:txBody>
      </p:sp>
      <p:sp>
        <p:nvSpPr>
          <p:cNvPr id="9" name="Shape 6"/>
          <p:cNvSpPr/>
          <p:nvPr/>
        </p:nvSpPr>
        <p:spPr>
          <a:xfrm>
            <a:off x="6208776" y="1645920"/>
            <a:ext cx="5431536" cy="1170432"/>
          </a:xfrm>
          <a:prstGeom prst="roundRect">
            <a:avLst>
              <a:gd name="adj" fmla="val 7031"/>
            </a:avLst>
          </a:prstGeom>
          <a:solidFill>
            <a:srgbClr val="18233B"/>
          </a:solidFill>
          <a:ln w="12700">
            <a:solidFill>
              <a:srgbClr val="18233B"/>
            </a:solidFill>
            <a:prstDash val="solid"/>
          </a:ln>
        </p:spPr>
      </p:sp>
      <p:sp>
        <p:nvSpPr>
          <p:cNvPr id="10" name="Shape 7"/>
          <p:cNvSpPr/>
          <p:nvPr/>
        </p:nvSpPr>
        <p:spPr>
          <a:xfrm>
            <a:off x="6409944" y="1865376"/>
            <a:ext cx="420624" cy="420624"/>
          </a:xfrm>
          <a:prstGeom prst="ellipse">
            <a:avLst/>
          </a:prstGeom>
          <a:solidFill>
            <a:srgbClr val="4D8DFF"/>
          </a:solidFill>
          <a:ln/>
        </p:spPr>
      </p:sp>
      <p:pic>
        <p:nvPicPr>
          <p:cNvPr id="11" name="Image 1" descr="/private/tmp/claude-501/-Users-bryanhopkins-AIChat-resort-ai-chatbot/485380a5-5fbc-481a-aba5-950dd47c1f1d/scratchpad/deck/icons/layers-white.png">    </p:cNvPr>
          <p:cNvPicPr>
            <a:picLocks noChangeAspect="1"/>
          </p:cNvPicPr>
          <p:nvPr/>
        </p:nvPicPr>
        <p:blipFill>
          <a:blip r:embed="rId2"/>
          <a:stretch>
            <a:fillRect/>
          </a:stretch>
        </p:blipFill>
        <p:spPr>
          <a:xfrm>
            <a:off x="6504584" y="1960016"/>
            <a:ext cx="231343" cy="231343"/>
          </a:xfrm>
          <a:prstGeom prst="rect">
            <a:avLst/>
          </a:prstGeom>
        </p:spPr>
      </p:pic>
      <p:sp>
        <p:nvSpPr>
          <p:cNvPr id="12" name="Text 8"/>
          <p:cNvSpPr/>
          <p:nvPr/>
        </p:nvSpPr>
        <p:spPr>
          <a:xfrm>
            <a:off x="6986016" y="1792224"/>
            <a:ext cx="4471416"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Gemini + Claude, via Google</a:t>
            </a:r>
            <a:endParaRPr lang="en-US" sz="1450" dirty="0"/>
          </a:p>
        </p:txBody>
      </p:sp>
      <p:sp>
        <p:nvSpPr>
          <p:cNvPr id="13" name="Text 9"/>
          <p:cNvSpPr/>
          <p:nvPr/>
        </p:nvSpPr>
        <p:spPr>
          <a:xfrm>
            <a:off x="6986016" y="2157984"/>
            <a:ext cx="4425696" cy="621792"/>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Gemini family since launch; Anthropic Claude via Vertex AI added March 15, 2026. A2A integration with Gemini Enterprise.</a:t>
            </a:r>
            <a:endParaRPr lang="en-US" sz="1100" dirty="0"/>
          </a:p>
        </p:txBody>
      </p:sp>
      <p:sp>
        <p:nvSpPr>
          <p:cNvPr id="14" name="Shape 10"/>
          <p:cNvSpPr/>
          <p:nvPr/>
        </p:nvSpPr>
        <p:spPr>
          <a:xfrm>
            <a:off x="548640" y="2944368"/>
            <a:ext cx="5431536" cy="1170432"/>
          </a:xfrm>
          <a:prstGeom prst="roundRect">
            <a:avLst>
              <a:gd name="adj" fmla="val 7031"/>
            </a:avLst>
          </a:prstGeom>
          <a:solidFill>
            <a:srgbClr val="18233B"/>
          </a:solidFill>
          <a:ln w="12700">
            <a:solidFill>
              <a:srgbClr val="18233B"/>
            </a:solidFill>
            <a:prstDash val="solid"/>
          </a:ln>
        </p:spPr>
      </p:sp>
      <p:sp>
        <p:nvSpPr>
          <p:cNvPr id="15" name="Shape 11"/>
          <p:cNvSpPr/>
          <p:nvPr/>
        </p:nvSpPr>
        <p:spPr>
          <a:xfrm>
            <a:off x="749808" y="3163824"/>
            <a:ext cx="420624" cy="420624"/>
          </a:xfrm>
          <a:prstGeom prst="ellipse">
            <a:avLst/>
          </a:prstGeom>
          <a:solidFill>
            <a:srgbClr val="4D8DFF"/>
          </a:solidFill>
          <a:ln/>
        </p:spPr>
      </p:sp>
      <p:pic>
        <p:nvPicPr>
          <p:cNvPr id="16" name="Image 2" descr="/private/tmp/claude-501/-Users-bryanhopkins-AIChat-resort-ai-chatbot/485380a5-5fbc-481a-aba5-950dd47c1f1d/scratchpad/deck/icons/code-white.png">    </p:cNvPr>
          <p:cNvPicPr>
            <a:picLocks noChangeAspect="1"/>
          </p:cNvPicPr>
          <p:nvPr/>
        </p:nvPicPr>
        <p:blipFill>
          <a:blip r:embed="rId3"/>
          <a:stretch>
            <a:fillRect/>
          </a:stretch>
        </p:blipFill>
        <p:spPr>
          <a:xfrm>
            <a:off x="844448" y="3258464"/>
            <a:ext cx="231343" cy="231343"/>
          </a:xfrm>
          <a:prstGeom prst="rect">
            <a:avLst/>
          </a:prstGeom>
        </p:spPr>
      </p:pic>
      <p:sp>
        <p:nvSpPr>
          <p:cNvPr id="17" name="Text 12"/>
          <p:cNvSpPr/>
          <p:nvPr/>
        </p:nvSpPr>
        <p:spPr>
          <a:xfrm>
            <a:off x="1325880" y="3090672"/>
            <a:ext cx="4471416"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 real extension surface</a:t>
            </a:r>
            <a:endParaRPr lang="en-US" sz="1450" dirty="0"/>
          </a:p>
        </p:txBody>
      </p:sp>
      <p:sp>
        <p:nvSpPr>
          <p:cNvPr id="18" name="Text 13"/>
          <p:cNvSpPr/>
          <p:nvPr/>
        </p:nvSpPr>
        <p:spPr>
          <a:xfrm>
            <a:off x="1325880" y="3456432"/>
            <a:ext cx="4425696" cy="621792"/>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Opal Tools SDK (Python/FastAPI) and an Experimentation MCP server for Cursor, Claude Code, and Claude Desktop.</a:t>
            </a:r>
            <a:endParaRPr lang="en-US" sz="1100" dirty="0"/>
          </a:p>
        </p:txBody>
      </p:sp>
      <p:sp>
        <p:nvSpPr>
          <p:cNvPr id="19" name="Shape 14"/>
          <p:cNvSpPr/>
          <p:nvPr/>
        </p:nvSpPr>
        <p:spPr>
          <a:xfrm>
            <a:off x="6208776" y="2944368"/>
            <a:ext cx="5431536" cy="1170432"/>
          </a:xfrm>
          <a:prstGeom prst="roundRect">
            <a:avLst>
              <a:gd name="adj" fmla="val 7031"/>
            </a:avLst>
          </a:prstGeom>
          <a:solidFill>
            <a:srgbClr val="18233B"/>
          </a:solidFill>
          <a:ln w="12700">
            <a:solidFill>
              <a:srgbClr val="18233B"/>
            </a:solidFill>
            <a:prstDash val="solid"/>
          </a:ln>
        </p:spPr>
      </p:sp>
      <p:sp>
        <p:nvSpPr>
          <p:cNvPr id="20" name="Shape 15"/>
          <p:cNvSpPr/>
          <p:nvPr/>
        </p:nvSpPr>
        <p:spPr>
          <a:xfrm>
            <a:off x="6409944" y="3163824"/>
            <a:ext cx="420624" cy="420624"/>
          </a:xfrm>
          <a:prstGeom prst="ellipse">
            <a:avLst/>
          </a:prstGeom>
          <a:solidFill>
            <a:srgbClr val="4D8DFF"/>
          </a:solidFill>
          <a:ln/>
        </p:spPr>
      </p:sp>
      <p:pic>
        <p:nvPicPr>
          <p:cNvPr id="21" name="Image 3" descr="/private/tmp/claude-501/-Users-bryanhopkins-AIChat-resort-ai-chatbot/485380a5-5fbc-481a-aba5-950dd47c1f1d/scratchpad/deck/icons/edit-white.png">    </p:cNvPr>
          <p:cNvPicPr>
            <a:picLocks noChangeAspect="1"/>
          </p:cNvPicPr>
          <p:nvPr/>
        </p:nvPicPr>
        <p:blipFill>
          <a:blip r:embed="rId4"/>
          <a:stretch>
            <a:fillRect/>
          </a:stretch>
        </p:blipFill>
        <p:spPr>
          <a:xfrm>
            <a:off x="6504584" y="3258464"/>
            <a:ext cx="231343" cy="231343"/>
          </a:xfrm>
          <a:prstGeom prst="rect">
            <a:avLst/>
          </a:prstGeom>
        </p:spPr>
      </p:pic>
      <p:sp>
        <p:nvSpPr>
          <p:cNvPr id="22" name="Text 16"/>
          <p:cNvSpPr/>
          <p:nvPr/>
        </p:nvSpPr>
        <p:spPr>
          <a:xfrm>
            <a:off x="6986016" y="3090672"/>
            <a:ext cx="4471416"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 capable editor agent</a:t>
            </a:r>
            <a:endParaRPr lang="en-US" sz="1450" dirty="0"/>
          </a:p>
        </p:txBody>
      </p:sp>
      <p:sp>
        <p:nvSpPr>
          <p:cNvPr id="23" name="Text 17"/>
          <p:cNvSpPr/>
          <p:nvPr/>
        </p:nvSpPr>
        <p:spPr>
          <a:xfrm>
            <a:off x="6986016" y="3456432"/>
            <a:ext cx="4425696" cy="621792"/>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The variation development agent edits elements, matches brand styles automatically, and proposes next variations from past ones.</a:t>
            </a:r>
            <a:endParaRPr lang="en-US" sz="1100" dirty="0"/>
          </a:p>
        </p:txBody>
      </p:sp>
      <p:sp>
        <p:nvSpPr>
          <p:cNvPr id="24" name="Text 18"/>
          <p:cNvSpPr/>
          <p:nvPr/>
        </p:nvSpPr>
        <p:spPr>
          <a:xfrm>
            <a:off x="548640" y="4434840"/>
            <a:ext cx="11091672" cy="502920"/>
          </a:xfrm>
          <a:prstGeom prst="rect">
            <a:avLst/>
          </a:prstGeom>
          <a:noFill/>
          <a:ln/>
        </p:spPr>
        <p:txBody>
          <a:bodyPr wrap="square" lIns="0" tIns="0" rIns="0" bIns="0" rtlCol="0" anchor="ctr"/>
          <a:lstStyle/>
          <a:p>
            <a:pPr indent="0" marL="0">
              <a:buNone/>
            </a:pPr>
            <a:r>
              <a:rPr lang="en-US" sz="1500" b="1" dirty="0">
                <a:solidFill>
                  <a:srgbClr val="FFC857"/>
                </a:solidFill>
                <a:latin typeface="Arial" pitchFamily="34" charset="0"/>
                <a:ea typeface="Arial" pitchFamily="34" charset="-122"/>
                <a:cs typeface="Arial" pitchFamily="34" charset="-120"/>
              </a:rPr>
              <a:t>For editor-expressible changes, Opal is genuinely useful. The question is what happens the moment an experiment is worth more than the editor can express.</a:t>
            </a:r>
            <a:endParaRPr lang="en-US" sz="1500" dirty="0"/>
          </a:p>
        </p:txBody>
      </p:sp>
      <p:sp>
        <p:nvSpPr>
          <p:cNvPr id="25" name="Text 19"/>
          <p:cNvSpPr/>
          <p:nvPr/>
        </p:nvSpPr>
        <p:spPr>
          <a:xfrm>
            <a:off x="548640" y="5029200"/>
            <a:ext cx="11091672" cy="502920"/>
          </a:xfrm>
          <a:prstGeom prst="rect">
            <a:avLst/>
          </a:prstGeom>
          <a:noFill/>
          <a:ln/>
        </p:spPr>
        <p:txBody>
          <a:bodyPr wrap="square" lIns="0" tIns="0" rIns="0" bIns="0" rtlCol="0" anchor="ctr"/>
          <a:lstStyle/>
          <a:p>
            <a:pPr indent="0" marL="0">
              <a:buNone/>
            </a:pPr>
            <a:r>
              <a:rPr lang="en-US" sz="1350" dirty="0">
                <a:solidFill>
                  <a:srgbClr val="C9D8F2"/>
                </a:solidFill>
                <a:latin typeface="Arial" pitchFamily="34" charset="0"/>
                <a:ea typeface="Arial" pitchFamily="34" charset="-122"/>
                <a:cs typeface="Arial" pitchFamily="34" charset="-120"/>
              </a:rPr>
              <a:t>That moment is exactly where enterprise experimentation programs live: interactive components, data-backed experiences, multi-step flows, design-system fidelity.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6B6B"/>
                </a:solidFill>
                <a:latin typeface="Arial" pitchFamily="34" charset="0"/>
                <a:ea typeface="Arial" pitchFamily="34" charset="-122"/>
                <a:cs typeface="Arial" pitchFamily="34" charset="-120"/>
              </a:rPr>
              <a:t>THE BOUNDARY, IN THEIR OWN WORDS</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Three sentences from Optimizely's documentation</a:t>
            </a:r>
            <a:endParaRPr lang="en-US" sz="3000" dirty="0"/>
          </a:p>
        </p:txBody>
      </p:sp>
      <p:sp>
        <p:nvSpPr>
          <p:cNvPr id="4" name="Shape 2"/>
          <p:cNvSpPr/>
          <p:nvPr/>
        </p:nvSpPr>
        <p:spPr>
          <a:xfrm>
            <a:off x="548640" y="1645920"/>
            <a:ext cx="11091672" cy="1188720"/>
          </a:xfrm>
          <a:prstGeom prst="roundRect">
            <a:avLst>
              <a:gd name="adj" fmla="val 6923"/>
            </a:avLst>
          </a:prstGeom>
          <a:solidFill>
            <a:srgbClr val="18233B"/>
          </a:solidFill>
          <a:ln w="12700">
            <a:solidFill>
              <a:srgbClr val="2A3A5E"/>
            </a:solidFill>
            <a:prstDash val="solid"/>
          </a:ln>
        </p:spPr>
      </p:sp>
      <p:sp>
        <p:nvSpPr>
          <p:cNvPr id="5" name="Text 3"/>
          <p:cNvSpPr/>
          <p:nvPr/>
        </p:nvSpPr>
        <p:spPr>
          <a:xfrm>
            <a:off x="868680" y="1755648"/>
            <a:ext cx="7406640" cy="777240"/>
          </a:xfrm>
          <a:prstGeom prst="rect">
            <a:avLst/>
          </a:prstGeom>
          <a:noFill/>
          <a:ln/>
        </p:spPr>
        <p:txBody>
          <a:bodyPr wrap="square" lIns="0" tIns="0" rIns="0" bIns="0" rtlCol="0" anchor="ctr"/>
          <a:lstStyle/>
          <a:p>
            <a:pPr indent="0" marL="0">
              <a:buNone/>
            </a:pPr>
            <a:r>
              <a:rPr lang="en-US" sz="1450" i="1" dirty="0">
                <a:solidFill>
                  <a:srgbClr val="FFFFFF"/>
                </a:solidFill>
                <a:latin typeface="Arial" pitchFamily="34" charset="0"/>
                <a:ea typeface="Arial" pitchFamily="34" charset="-122"/>
                <a:cs typeface="Arial" pitchFamily="34" charset="-120"/>
              </a:rPr>
              <a:t>“The variation development agent is only available in the new Visual Editor.”</a:t>
            </a:r>
            <a:endParaRPr lang="en-US" sz="1450" dirty="0"/>
          </a:p>
        </p:txBody>
      </p:sp>
      <p:sp>
        <p:nvSpPr>
          <p:cNvPr id="6" name="Text 4"/>
          <p:cNvSpPr/>
          <p:nvPr/>
        </p:nvSpPr>
        <p:spPr>
          <a:xfrm>
            <a:off x="868680" y="2514600"/>
            <a:ext cx="7406640" cy="256032"/>
          </a:xfrm>
          <a:prstGeom prst="rect">
            <a:avLst/>
          </a:prstGeom>
          <a:noFill/>
          <a:ln/>
        </p:spPr>
        <p:txBody>
          <a:bodyPr wrap="square" lIns="0" tIns="0" rIns="0" bIns="0" rtlCol="0" anchor="ctr"/>
          <a:lstStyle/>
          <a:p>
            <a:pPr indent="0" marL="0">
              <a:buNone/>
            </a:pPr>
            <a:r>
              <a:rPr lang="en-US" sz="900" dirty="0">
                <a:solidFill>
                  <a:srgbClr val="8CA0C4"/>
                </a:solidFill>
                <a:latin typeface="Arial" pitchFamily="34" charset="0"/>
                <a:ea typeface="Arial" pitchFamily="34" charset="-122"/>
                <a:cs typeface="Arial" pitchFamily="34" charset="-120"/>
              </a:rPr>
              <a:t>AI variation development agent — Support Help Center</a:t>
            </a:r>
            <a:endParaRPr lang="en-US" sz="900" dirty="0"/>
          </a:p>
        </p:txBody>
      </p:sp>
      <p:sp>
        <p:nvSpPr>
          <p:cNvPr id="7" name="Text 5"/>
          <p:cNvSpPr/>
          <p:nvPr/>
        </p:nvSpPr>
        <p:spPr>
          <a:xfrm>
            <a:off x="8503920" y="1755648"/>
            <a:ext cx="3063240" cy="960120"/>
          </a:xfrm>
          <a:prstGeom prst="rect">
            <a:avLst/>
          </a:prstGeom>
          <a:noFill/>
          <a:ln/>
        </p:spPr>
        <p:txBody>
          <a:bodyPr wrap="square" lIns="0" tIns="0" rIns="0" bIns="0" rtlCol="0" anchor="ctr"/>
          <a:lstStyle/>
          <a:p>
            <a:pPr indent="0" marL="0">
              <a:buNone/>
            </a:pPr>
            <a:r>
              <a:rPr lang="en-US" sz="1200" b="1" dirty="0">
                <a:solidFill>
                  <a:srgbClr val="4D8DFF"/>
                </a:solidFill>
                <a:latin typeface="Arial" pitchFamily="34" charset="0"/>
                <a:ea typeface="Arial" pitchFamily="34" charset="-122"/>
                <a:cs typeface="Arial" pitchFamily="34" charset="-120"/>
              </a:rPr>
              <a:t>Agentic authoring is editor-bound.</a:t>
            </a:r>
            <a:endParaRPr lang="en-US" sz="1200" dirty="0"/>
          </a:p>
        </p:txBody>
      </p:sp>
      <p:sp>
        <p:nvSpPr>
          <p:cNvPr id="8" name="Shape 6"/>
          <p:cNvSpPr/>
          <p:nvPr/>
        </p:nvSpPr>
        <p:spPr>
          <a:xfrm>
            <a:off x="548640" y="2944368"/>
            <a:ext cx="11091672" cy="1188720"/>
          </a:xfrm>
          <a:prstGeom prst="roundRect">
            <a:avLst>
              <a:gd name="adj" fmla="val 6923"/>
            </a:avLst>
          </a:prstGeom>
          <a:solidFill>
            <a:srgbClr val="18233B"/>
          </a:solidFill>
          <a:ln w="12700">
            <a:solidFill>
              <a:srgbClr val="2A3A5E"/>
            </a:solidFill>
            <a:prstDash val="solid"/>
          </a:ln>
        </p:spPr>
      </p:sp>
      <p:sp>
        <p:nvSpPr>
          <p:cNvPr id="9" name="Text 7"/>
          <p:cNvSpPr/>
          <p:nvPr/>
        </p:nvSpPr>
        <p:spPr>
          <a:xfrm>
            <a:off x="868680" y="3054096"/>
            <a:ext cx="7406640" cy="777240"/>
          </a:xfrm>
          <a:prstGeom prst="rect">
            <a:avLst/>
          </a:prstGeom>
          <a:noFill/>
          <a:ln/>
        </p:spPr>
        <p:txBody>
          <a:bodyPr wrap="square" lIns="0" tIns="0" rIns="0" bIns="0" rtlCol="0" anchor="ctr"/>
          <a:lstStyle/>
          <a:p>
            <a:pPr indent="0" marL="0">
              <a:buNone/>
            </a:pPr>
            <a:r>
              <a:rPr lang="en-US" sz="1450" i="1" dirty="0">
                <a:solidFill>
                  <a:srgbClr val="FFFFFF"/>
                </a:solidFill>
                <a:latin typeface="Arial" pitchFamily="34" charset="0"/>
                <a:ea typeface="Arial" pitchFamily="34" charset="-122"/>
                <a:cs typeface="Arial" pitchFamily="34" charset="-120"/>
              </a:rPr>
              <a:t>“Variation-level code changes (custom HTML, CSS, and JavaScript) are not supported through MCP. Instead, use the Visual Editor.”</a:t>
            </a:r>
            <a:endParaRPr lang="en-US" sz="1450" dirty="0"/>
          </a:p>
        </p:txBody>
      </p:sp>
      <p:sp>
        <p:nvSpPr>
          <p:cNvPr id="10" name="Text 8"/>
          <p:cNvSpPr/>
          <p:nvPr/>
        </p:nvSpPr>
        <p:spPr>
          <a:xfrm>
            <a:off x="868680" y="3813048"/>
            <a:ext cx="7406640" cy="256032"/>
          </a:xfrm>
          <a:prstGeom prst="rect">
            <a:avLst/>
          </a:prstGeom>
          <a:noFill/>
          <a:ln/>
        </p:spPr>
        <p:txBody>
          <a:bodyPr wrap="square" lIns="0" tIns="0" rIns="0" bIns="0" rtlCol="0" anchor="ctr"/>
          <a:lstStyle/>
          <a:p>
            <a:pPr indent="0" marL="0">
              <a:buNone/>
            </a:pPr>
            <a:r>
              <a:rPr lang="en-US" sz="900" dirty="0">
                <a:solidFill>
                  <a:srgbClr val="8CA0C4"/>
                </a:solidFill>
                <a:latin typeface="Arial" pitchFamily="34" charset="0"/>
                <a:ea typeface="Arial" pitchFamily="34" charset="-122"/>
                <a:cs typeface="Arial" pitchFamily="34" charset="-120"/>
              </a:rPr>
              <a:t>Experimentation MCP server overview — Support Help Center</a:t>
            </a:r>
            <a:endParaRPr lang="en-US" sz="900" dirty="0"/>
          </a:p>
        </p:txBody>
      </p:sp>
      <p:sp>
        <p:nvSpPr>
          <p:cNvPr id="11" name="Text 9"/>
          <p:cNvSpPr/>
          <p:nvPr/>
        </p:nvSpPr>
        <p:spPr>
          <a:xfrm>
            <a:off x="8503920" y="3054096"/>
            <a:ext cx="3063240" cy="960120"/>
          </a:xfrm>
          <a:prstGeom prst="rect">
            <a:avLst/>
          </a:prstGeom>
          <a:noFill/>
          <a:ln/>
        </p:spPr>
        <p:txBody>
          <a:bodyPr wrap="square" lIns="0" tIns="0" rIns="0" bIns="0" rtlCol="0" anchor="ctr"/>
          <a:lstStyle/>
          <a:p>
            <a:pPr indent="0" marL="0">
              <a:buNone/>
            </a:pPr>
            <a:r>
              <a:rPr lang="en-US" sz="1200" b="1" dirty="0">
                <a:solidFill>
                  <a:srgbClr val="4D8DFF"/>
                </a:solidFill>
                <a:latin typeface="Arial" pitchFamily="34" charset="0"/>
                <a:ea typeface="Arial" pitchFamily="34" charset="-122"/>
                <a:cs typeface="Arial" pitchFamily="34" charset="-120"/>
              </a:rPr>
              <a:t>Their integration surface for Claude Code and Cursor excludes the variation itself.</a:t>
            </a:r>
            <a:endParaRPr lang="en-US" sz="1200" dirty="0"/>
          </a:p>
        </p:txBody>
      </p:sp>
      <p:sp>
        <p:nvSpPr>
          <p:cNvPr id="12" name="Shape 10"/>
          <p:cNvSpPr/>
          <p:nvPr/>
        </p:nvSpPr>
        <p:spPr>
          <a:xfrm>
            <a:off x="548640" y="4242816"/>
            <a:ext cx="11091672" cy="1188720"/>
          </a:xfrm>
          <a:prstGeom prst="roundRect">
            <a:avLst>
              <a:gd name="adj" fmla="val 6923"/>
            </a:avLst>
          </a:prstGeom>
          <a:solidFill>
            <a:srgbClr val="18233B"/>
          </a:solidFill>
          <a:ln w="12700">
            <a:solidFill>
              <a:srgbClr val="FF6B6B"/>
            </a:solidFill>
            <a:prstDash val="solid"/>
          </a:ln>
        </p:spPr>
      </p:sp>
      <p:sp>
        <p:nvSpPr>
          <p:cNvPr id="13" name="Text 11"/>
          <p:cNvSpPr/>
          <p:nvPr/>
        </p:nvSpPr>
        <p:spPr>
          <a:xfrm>
            <a:off x="868680" y="4352544"/>
            <a:ext cx="7406640" cy="777240"/>
          </a:xfrm>
          <a:prstGeom prst="rect">
            <a:avLst/>
          </a:prstGeom>
          <a:noFill/>
          <a:ln/>
        </p:spPr>
        <p:txBody>
          <a:bodyPr wrap="square" lIns="0" tIns="0" rIns="0" bIns="0" rtlCol="0" anchor="ctr"/>
          <a:lstStyle/>
          <a:p>
            <a:pPr indent="0" marL="0">
              <a:buNone/>
            </a:pPr>
            <a:r>
              <a:rPr lang="en-US" sz="1450" i="1" dirty="0">
                <a:solidFill>
                  <a:srgbClr val="FFFFFF"/>
                </a:solidFill>
                <a:latin typeface="Arial" pitchFamily="34" charset="0"/>
                <a:ea typeface="Arial" pitchFamily="34" charset="-122"/>
                <a:cs typeface="Arial" pitchFamily="34" charset="-120"/>
              </a:rPr>
              <a:t>“Any code Opal generates is a custom code solution and falls outside the scope of Optimizely Support.”</a:t>
            </a:r>
            <a:endParaRPr lang="en-US" sz="1450" dirty="0"/>
          </a:p>
        </p:txBody>
      </p:sp>
      <p:sp>
        <p:nvSpPr>
          <p:cNvPr id="14" name="Text 12"/>
          <p:cNvSpPr/>
          <p:nvPr/>
        </p:nvSpPr>
        <p:spPr>
          <a:xfrm>
            <a:off x="868680" y="5111496"/>
            <a:ext cx="7406640" cy="256032"/>
          </a:xfrm>
          <a:prstGeom prst="rect">
            <a:avLst/>
          </a:prstGeom>
          <a:noFill/>
          <a:ln/>
        </p:spPr>
        <p:txBody>
          <a:bodyPr wrap="square" lIns="0" tIns="0" rIns="0" bIns="0" rtlCol="0" anchor="ctr"/>
          <a:lstStyle/>
          <a:p>
            <a:pPr indent="0" marL="0">
              <a:buNone/>
            </a:pPr>
            <a:r>
              <a:rPr lang="en-US" sz="900" dirty="0">
                <a:solidFill>
                  <a:srgbClr val="8CA0C4"/>
                </a:solidFill>
                <a:latin typeface="Arial" pitchFamily="34" charset="0"/>
                <a:ea typeface="Arial" pitchFamily="34" charset="-122"/>
                <a:cs typeface="Arial" pitchFamily="34" charset="-120"/>
              </a:rPr>
              <a:t>AI variation development agent — Support Help Center</a:t>
            </a:r>
            <a:endParaRPr lang="en-US" sz="900" dirty="0"/>
          </a:p>
        </p:txBody>
      </p:sp>
      <p:sp>
        <p:nvSpPr>
          <p:cNvPr id="15" name="Text 13"/>
          <p:cNvSpPr/>
          <p:nvPr/>
        </p:nvSpPr>
        <p:spPr>
          <a:xfrm>
            <a:off x="8503920" y="4352544"/>
            <a:ext cx="3063240" cy="960120"/>
          </a:xfrm>
          <a:prstGeom prst="rect">
            <a:avLst/>
          </a:prstGeom>
          <a:noFill/>
          <a:ln/>
        </p:spPr>
        <p:txBody>
          <a:bodyPr wrap="square" lIns="0" tIns="0" rIns="0" bIns="0" rtlCol="0" anchor="ctr"/>
          <a:lstStyle/>
          <a:p>
            <a:pPr indent="0" marL="0">
              <a:buNone/>
            </a:pPr>
            <a:r>
              <a:rPr lang="en-US" sz="1200" b="1" dirty="0">
                <a:solidFill>
                  <a:srgbClr val="FF6B6B"/>
                </a:solidFill>
                <a:latin typeface="Arial" pitchFamily="34" charset="0"/>
                <a:ea typeface="Arial" pitchFamily="34" charset="-122"/>
                <a:cs typeface="Arial" pitchFamily="34" charset="-120"/>
              </a:rPr>
              <a:t>When the agent does write code, the platform disclaims it.</a:t>
            </a:r>
            <a:endParaRPr lang="en-US" sz="1200" dirty="0"/>
          </a:p>
        </p:txBody>
      </p:sp>
      <p:sp>
        <p:nvSpPr>
          <p:cNvPr id="16" name="Text 14"/>
          <p:cNvSpPr/>
          <p:nvPr/>
        </p:nvSpPr>
        <p:spPr>
          <a:xfrm>
            <a:off x="548640" y="5760720"/>
            <a:ext cx="11091672" cy="365760"/>
          </a:xfrm>
          <a:prstGeom prst="rect">
            <a:avLst/>
          </a:prstGeom>
          <a:noFill/>
          <a:ln/>
        </p:spPr>
        <p:txBody>
          <a:bodyPr wrap="square" lIns="0" tIns="0" rIns="0" bIns="0" rtlCol="0" anchor="ctr"/>
          <a:lstStyle/>
          <a:p>
            <a:pPr indent="0" marL="0">
              <a:buNone/>
            </a:pPr>
            <a:r>
              <a:rPr lang="en-US" sz="1400" b="1" dirty="0">
                <a:solidFill>
                  <a:srgbClr val="FFC857"/>
                </a:solidFill>
                <a:latin typeface="Arial" pitchFamily="34" charset="0"/>
                <a:ea typeface="Arial" pitchFamily="34" charset="-122"/>
                <a:cs typeface="Arial" pitchFamily="34" charset="-120"/>
              </a:rPr>
              <a:t>Everything that follows is the enterprise consequence of these three scope decisions.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C857"/>
                </a:solidFill>
                <a:latin typeface="Arial" pitchFamily="34" charset="0"/>
                <a:ea typeface="Arial" pitchFamily="34" charset="-122"/>
                <a:cs typeface="Arial" pitchFamily="34" charset="-120"/>
              </a:rPr>
              <a:t>GAP 1 — THE AUTHORING CEILING</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Ambitious experiments don't fit in an editor</a:t>
            </a:r>
            <a:endParaRPr lang="en-US" sz="3000" dirty="0"/>
          </a:p>
        </p:txBody>
      </p:sp>
      <p:sp>
        <p:nvSpPr>
          <p:cNvPr id="4" name="Shape 2"/>
          <p:cNvSpPr/>
          <p:nvPr/>
        </p:nvSpPr>
        <p:spPr>
          <a:xfrm>
            <a:off x="548640" y="1645920"/>
            <a:ext cx="5431536" cy="3246120"/>
          </a:xfrm>
          <a:prstGeom prst="roundRect">
            <a:avLst>
              <a:gd name="adj" fmla="val 2535"/>
            </a:avLst>
          </a:prstGeom>
          <a:solidFill>
            <a:srgbClr val="18233B"/>
          </a:solidFill>
          <a:ln w="12700">
            <a:solidFill>
              <a:srgbClr val="18233B"/>
            </a:solidFill>
            <a:prstDash val="solid"/>
          </a:ln>
        </p:spPr>
      </p:sp>
      <p:sp>
        <p:nvSpPr>
          <p:cNvPr id="5" name="Text 3"/>
          <p:cNvSpPr/>
          <p:nvPr/>
        </p:nvSpPr>
        <p:spPr>
          <a:xfrm>
            <a:off x="841248" y="1847088"/>
            <a:ext cx="4846320" cy="320040"/>
          </a:xfrm>
          <a:prstGeom prst="rect">
            <a:avLst/>
          </a:prstGeom>
          <a:noFill/>
          <a:ln/>
        </p:spPr>
        <p:txBody>
          <a:bodyPr wrap="square" lIns="0" tIns="0" rIns="0" bIns="0" rtlCol="0" anchor="ctr"/>
          <a:lstStyle/>
          <a:p>
            <a:pPr indent="0" marL="0">
              <a:buNone/>
            </a:pPr>
            <a:r>
              <a:rPr lang="en-US" sz="1500" b="1" dirty="0">
                <a:solidFill>
                  <a:srgbClr val="8CA0C4"/>
                </a:solidFill>
                <a:latin typeface="Arial" pitchFamily="34" charset="0"/>
                <a:ea typeface="Arial" pitchFamily="34" charset="-122"/>
                <a:cs typeface="Arial" pitchFamily="34" charset="-120"/>
              </a:rPr>
              <a:t>In Opal today</a:t>
            </a:r>
            <a:endParaRPr lang="en-US" sz="1500" dirty="0"/>
          </a:p>
        </p:txBody>
      </p:sp>
      <p:sp>
        <p:nvSpPr>
          <p:cNvPr id="6" name="Shape 4"/>
          <p:cNvSpPr/>
          <p:nvPr/>
        </p:nvSpPr>
        <p:spPr>
          <a:xfrm>
            <a:off x="804672" y="2286000"/>
            <a:ext cx="4919472" cy="822960"/>
          </a:xfrm>
          <a:prstGeom prst="roundRect">
            <a:avLst>
              <a:gd name="adj" fmla="val 10000"/>
            </a:avLst>
          </a:prstGeom>
          <a:solidFill>
            <a:srgbClr val="0B1220"/>
          </a:solidFill>
          <a:ln w="12700">
            <a:solidFill>
              <a:srgbClr val="2A3A5E"/>
            </a:solidFill>
            <a:prstDash val="solid"/>
          </a:ln>
        </p:spPr>
      </p:sp>
      <p:sp>
        <p:nvSpPr>
          <p:cNvPr id="7" name="Text 5"/>
          <p:cNvSpPr/>
          <p:nvPr/>
        </p:nvSpPr>
        <p:spPr>
          <a:xfrm>
            <a:off x="969264" y="2359152"/>
            <a:ext cx="4562856" cy="502920"/>
          </a:xfrm>
          <a:prstGeom prst="rect">
            <a:avLst/>
          </a:prstGeom>
          <a:noFill/>
          <a:ln/>
        </p:spPr>
        <p:txBody>
          <a:bodyPr wrap="square" lIns="0" tIns="0" rIns="0" bIns="0" rtlCol="0" anchor="ctr"/>
          <a:lstStyle/>
          <a:p>
            <a:pPr indent="0" marL="0">
              <a:buNone/>
            </a:pPr>
            <a:r>
              <a:rPr lang="en-US" sz="1150" i="1" dirty="0">
                <a:solidFill>
                  <a:srgbClr val="C9D8F2"/>
                </a:solidFill>
                <a:latin typeface="Arial" pitchFamily="34" charset="0"/>
                <a:ea typeface="Arial" pitchFamily="34" charset="-122"/>
                <a:cs typeface="Arial" pitchFamily="34" charset="-120"/>
              </a:rPr>
              <a:t>“The variation development agent is only available in the new Visual Editor.”</a:t>
            </a:r>
            <a:endParaRPr lang="en-US" sz="1150" dirty="0"/>
          </a:p>
        </p:txBody>
      </p:sp>
      <p:sp>
        <p:nvSpPr>
          <p:cNvPr id="8" name="Text 6"/>
          <p:cNvSpPr/>
          <p:nvPr/>
        </p:nvSpPr>
        <p:spPr>
          <a:xfrm>
            <a:off x="969264" y="2834640"/>
            <a:ext cx="4562856" cy="228600"/>
          </a:xfrm>
          <a:prstGeom prst="rect">
            <a:avLst/>
          </a:prstGeom>
          <a:noFill/>
          <a:ln/>
        </p:spPr>
        <p:txBody>
          <a:bodyPr wrap="square" lIns="0" tIns="0" rIns="0" bIns="0" rtlCol="0" anchor="ctr"/>
          <a:lstStyle/>
          <a:p>
            <a:pPr indent="0" marL="0">
              <a:buNone/>
            </a:pPr>
            <a:r>
              <a:rPr lang="en-US" sz="850" dirty="0">
                <a:solidFill>
                  <a:srgbClr val="8CA0C4"/>
                </a:solidFill>
                <a:latin typeface="Arial" pitchFamily="34" charset="0"/>
                <a:ea typeface="Arial" pitchFamily="34" charset="-122"/>
                <a:cs typeface="Arial" pitchFamily="34" charset="-120"/>
              </a:rPr>
              <a:t>Optimizely Support</a:t>
            </a:r>
            <a:endParaRPr lang="en-US" sz="850" dirty="0"/>
          </a:p>
        </p:txBody>
      </p:sp>
      <p:sp>
        <p:nvSpPr>
          <p:cNvPr id="9" name="Text 7"/>
          <p:cNvSpPr/>
          <p:nvPr/>
        </p:nvSpPr>
        <p:spPr>
          <a:xfrm>
            <a:off x="868680" y="3236976"/>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The agent manipulates the editor's change model — element edits, styles, inserted widgets.</a:t>
            </a:r>
            <a:endParaRPr lang="en-US" sz="1200" dirty="0"/>
          </a:p>
        </p:txBody>
      </p:sp>
      <p:sp>
        <p:nvSpPr>
          <p:cNvPr id="10" name="Text 8"/>
          <p:cNvSpPr/>
          <p:nvPr/>
        </p:nvSpPr>
        <p:spPr>
          <a:xfrm>
            <a:off x="868680" y="3849624"/>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External agents (their MCP) can create experiments and audiences — but not author the variation.</a:t>
            </a:r>
            <a:endParaRPr lang="en-US" sz="1200" dirty="0"/>
          </a:p>
        </p:txBody>
      </p:sp>
      <p:sp>
        <p:nvSpPr>
          <p:cNvPr id="11" name="Text 9"/>
          <p:cNvSpPr/>
          <p:nvPr/>
        </p:nvSpPr>
        <p:spPr>
          <a:xfrm>
            <a:off x="868680" y="4462272"/>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Complex builds route back to the same place they always did: a developer, off to the side.</a:t>
            </a:r>
            <a:endParaRPr lang="en-US" sz="1200" dirty="0"/>
          </a:p>
        </p:txBody>
      </p:sp>
      <p:sp>
        <p:nvSpPr>
          <p:cNvPr id="12" name="Shape 10"/>
          <p:cNvSpPr/>
          <p:nvPr/>
        </p:nvSpPr>
        <p:spPr>
          <a:xfrm>
            <a:off x="6208776" y="1645920"/>
            <a:ext cx="5431536" cy="3246120"/>
          </a:xfrm>
          <a:prstGeom prst="roundRect">
            <a:avLst>
              <a:gd name="adj" fmla="val 2535"/>
            </a:avLst>
          </a:prstGeom>
          <a:solidFill>
            <a:srgbClr val="18233B"/>
          </a:solidFill>
          <a:ln w="12700">
            <a:solidFill>
              <a:srgbClr val="2EE6A8"/>
            </a:solidFill>
            <a:prstDash val="solid"/>
          </a:ln>
        </p:spPr>
      </p:sp>
      <p:sp>
        <p:nvSpPr>
          <p:cNvPr id="13" name="Text 11"/>
          <p:cNvSpPr/>
          <p:nvPr/>
        </p:nvSpPr>
        <p:spPr>
          <a:xfrm>
            <a:off x="6501384" y="1847088"/>
            <a:ext cx="4846320" cy="320040"/>
          </a:xfrm>
          <a:prstGeom prst="rect">
            <a:avLst/>
          </a:prstGeom>
          <a:noFill/>
          <a:ln/>
        </p:spPr>
        <p:txBody>
          <a:bodyPr wrap="square" lIns="0" tIns="0" rIns="0" bIns="0" rtlCol="0" anchor="ctr"/>
          <a:lstStyle/>
          <a:p>
            <a:pPr indent="0" marL="0">
              <a:buNone/>
            </a:pPr>
            <a:r>
              <a:rPr lang="en-US" sz="1500" b="1" dirty="0">
                <a:solidFill>
                  <a:srgbClr val="2EE6A8"/>
                </a:solidFill>
                <a:latin typeface="Arial" pitchFamily="34" charset="0"/>
                <a:ea typeface="Arial" pitchFamily="34" charset="-122"/>
                <a:cs typeface="Arial" pitchFamily="34" charset="-120"/>
              </a:rPr>
              <a:t>What an enterprise program needs</a:t>
            </a:r>
            <a:endParaRPr lang="en-US" sz="1500" dirty="0"/>
          </a:p>
        </p:txBody>
      </p:sp>
      <p:sp>
        <p:nvSpPr>
          <p:cNvPr id="14" name="Text 12"/>
          <p:cNvSpPr/>
          <p:nvPr/>
        </p:nvSpPr>
        <p:spPr>
          <a:xfrm>
            <a:off x="6528816" y="2304288"/>
            <a:ext cx="477316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An agent working in a real repository with real tooling — anything expressible in code is buildable.</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Loaded context: the page's embedded data model, extracted brand tokens, the production source tree (read-only).</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Proven live: a data-driven room-detail overlay joined to 21 records of in-page JSON — running today as a real Optimizely variation. No editor could express it.</a:t>
            </a:r>
            <a:endParaRPr lang="en-US" sz="1250" dirty="0"/>
          </a:p>
        </p:txBody>
      </p:sp>
      <p:sp>
        <p:nvSpPr>
          <p:cNvPr id="15" name="Shape 13"/>
          <p:cNvSpPr/>
          <p:nvPr/>
        </p:nvSpPr>
        <p:spPr>
          <a:xfrm>
            <a:off x="548640" y="5120640"/>
            <a:ext cx="11091672" cy="914400"/>
          </a:xfrm>
          <a:prstGeom prst="roundRect">
            <a:avLst>
              <a:gd name="adj" fmla="val 9000"/>
            </a:avLst>
          </a:prstGeom>
          <a:solidFill>
            <a:srgbClr val="202E4E"/>
          </a:solidFill>
          <a:ln w="12700">
            <a:solidFill>
              <a:srgbClr val="4D8DFF"/>
            </a:solidFill>
            <a:prstDash val="solid"/>
          </a:ln>
        </p:spPr>
      </p:sp>
      <p:pic>
        <p:nvPicPr>
          <p:cNvPr id="16" name="Image 0" descr="/private/tmp/claude-501/-Users-bryanhopkins-AIChat-resort-ai-chatbot/485380a5-5fbc-481a-aba5-950dd47c1f1d/scratchpad/deck/icons/layers-blue.png">    </p:cNvPr>
          <p:cNvPicPr>
            <a:picLocks noChangeAspect="1"/>
          </p:cNvPicPr>
          <p:nvPr/>
        </p:nvPicPr>
        <p:blipFill>
          <a:blip r:embed="rId1"/>
          <a:stretch>
            <a:fillRect/>
          </a:stretch>
        </p:blipFill>
        <p:spPr>
          <a:xfrm>
            <a:off x="822960" y="5376672"/>
            <a:ext cx="384048" cy="384048"/>
          </a:xfrm>
          <a:prstGeom prst="rect">
            <a:avLst/>
          </a:prstGeom>
        </p:spPr>
      </p:pic>
      <p:sp>
        <p:nvSpPr>
          <p:cNvPr id="17" name="Text 14"/>
          <p:cNvSpPr/>
          <p:nvPr/>
        </p:nvSpPr>
        <p:spPr>
          <a:xfrm>
            <a:off x="1371600" y="5120640"/>
            <a:ext cx="9994392"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enterprise reality: </a:t>
            </a:r>
            <a:pPr indent="0" marL="0">
              <a:buNone/>
            </a:pPr>
            <a:r>
              <a:rPr lang="en-US" sz="1350" dirty="0">
                <a:solidFill>
                  <a:srgbClr val="C9D8F2"/>
                </a:solidFill>
                <a:latin typeface="Arial" pitchFamily="34" charset="0"/>
                <a:ea typeface="Arial" pitchFamily="34" charset="-122"/>
                <a:cs typeface="Arial" pitchFamily="34" charset="-120"/>
              </a:rPr>
              <a:t>the experiments worth the most are precisely the ones the editor can't express. The ceiling isn't an edge case — it's where the ROI lives.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C857"/>
                </a:solidFill>
                <a:latin typeface="Arial" pitchFamily="34" charset="0"/>
                <a:ea typeface="Arial" pitchFamily="34" charset="-122"/>
                <a:cs typeface="Arial" pitchFamily="34" charset="-120"/>
              </a:rPr>
              <a:t>GAP 2 — DISCLAIMED VS. CERTIFIED</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Their agent's code is unsupported. Ours is certified.</a:t>
            </a:r>
            <a:endParaRPr lang="en-US" sz="3000" dirty="0"/>
          </a:p>
        </p:txBody>
      </p:sp>
      <p:sp>
        <p:nvSpPr>
          <p:cNvPr id="4" name="Shape 2"/>
          <p:cNvSpPr/>
          <p:nvPr/>
        </p:nvSpPr>
        <p:spPr>
          <a:xfrm>
            <a:off x="548640" y="1645920"/>
            <a:ext cx="5431536" cy="3246120"/>
          </a:xfrm>
          <a:prstGeom prst="roundRect">
            <a:avLst>
              <a:gd name="adj" fmla="val 2535"/>
            </a:avLst>
          </a:prstGeom>
          <a:solidFill>
            <a:srgbClr val="18233B"/>
          </a:solidFill>
          <a:ln w="12700">
            <a:solidFill>
              <a:srgbClr val="18233B"/>
            </a:solidFill>
            <a:prstDash val="solid"/>
          </a:ln>
        </p:spPr>
      </p:sp>
      <p:sp>
        <p:nvSpPr>
          <p:cNvPr id="5" name="Text 3"/>
          <p:cNvSpPr/>
          <p:nvPr/>
        </p:nvSpPr>
        <p:spPr>
          <a:xfrm>
            <a:off x="841248" y="1847088"/>
            <a:ext cx="4846320" cy="320040"/>
          </a:xfrm>
          <a:prstGeom prst="rect">
            <a:avLst/>
          </a:prstGeom>
          <a:noFill/>
          <a:ln/>
        </p:spPr>
        <p:txBody>
          <a:bodyPr wrap="square" lIns="0" tIns="0" rIns="0" bIns="0" rtlCol="0" anchor="ctr"/>
          <a:lstStyle/>
          <a:p>
            <a:pPr indent="0" marL="0">
              <a:buNone/>
            </a:pPr>
            <a:r>
              <a:rPr lang="en-US" sz="1500" b="1" dirty="0">
                <a:solidFill>
                  <a:srgbClr val="8CA0C4"/>
                </a:solidFill>
                <a:latin typeface="Arial" pitchFamily="34" charset="0"/>
                <a:ea typeface="Arial" pitchFamily="34" charset="-122"/>
                <a:cs typeface="Arial" pitchFamily="34" charset="-120"/>
              </a:rPr>
              <a:t>In Opal today</a:t>
            </a:r>
            <a:endParaRPr lang="en-US" sz="1500" dirty="0"/>
          </a:p>
        </p:txBody>
      </p:sp>
      <p:sp>
        <p:nvSpPr>
          <p:cNvPr id="6" name="Shape 4"/>
          <p:cNvSpPr/>
          <p:nvPr/>
        </p:nvSpPr>
        <p:spPr>
          <a:xfrm>
            <a:off x="804672" y="2286000"/>
            <a:ext cx="4919472" cy="960120"/>
          </a:xfrm>
          <a:prstGeom prst="roundRect">
            <a:avLst>
              <a:gd name="adj" fmla="val 8571"/>
            </a:avLst>
          </a:prstGeom>
          <a:solidFill>
            <a:srgbClr val="0B1220"/>
          </a:solidFill>
          <a:ln w="12700">
            <a:solidFill>
              <a:srgbClr val="2A3A5E"/>
            </a:solidFill>
            <a:prstDash val="solid"/>
          </a:ln>
        </p:spPr>
      </p:sp>
      <p:sp>
        <p:nvSpPr>
          <p:cNvPr id="7" name="Text 5"/>
          <p:cNvSpPr/>
          <p:nvPr/>
        </p:nvSpPr>
        <p:spPr>
          <a:xfrm>
            <a:off x="969264" y="2359152"/>
            <a:ext cx="4562856" cy="640080"/>
          </a:xfrm>
          <a:prstGeom prst="rect">
            <a:avLst/>
          </a:prstGeom>
          <a:noFill/>
          <a:ln/>
        </p:spPr>
        <p:txBody>
          <a:bodyPr wrap="square" lIns="0" tIns="0" rIns="0" bIns="0" rtlCol="0" anchor="ctr"/>
          <a:lstStyle/>
          <a:p>
            <a:pPr indent="0" marL="0">
              <a:buNone/>
            </a:pPr>
            <a:r>
              <a:rPr lang="en-US" sz="1150" i="1" dirty="0">
                <a:solidFill>
                  <a:srgbClr val="C9D8F2"/>
                </a:solidFill>
                <a:latin typeface="Arial" pitchFamily="34" charset="0"/>
                <a:ea typeface="Arial" pitchFamily="34" charset="-122"/>
                <a:cs typeface="Arial" pitchFamily="34" charset="-120"/>
              </a:rPr>
              <a:t>“Any code Opal generates is a custom code solution and falls outside the scope of Optimizely Support.”</a:t>
            </a:r>
            <a:endParaRPr lang="en-US" sz="1150" dirty="0"/>
          </a:p>
        </p:txBody>
      </p:sp>
      <p:sp>
        <p:nvSpPr>
          <p:cNvPr id="8" name="Text 6"/>
          <p:cNvSpPr/>
          <p:nvPr/>
        </p:nvSpPr>
        <p:spPr>
          <a:xfrm>
            <a:off x="969264" y="2971800"/>
            <a:ext cx="4562856" cy="228600"/>
          </a:xfrm>
          <a:prstGeom prst="rect">
            <a:avLst/>
          </a:prstGeom>
          <a:noFill/>
          <a:ln/>
        </p:spPr>
        <p:txBody>
          <a:bodyPr wrap="square" lIns="0" tIns="0" rIns="0" bIns="0" rtlCol="0" anchor="ctr"/>
          <a:lstStyle/>
          <a:p>
            <a:pPr indent="0" marL="0">
              <a:buNone/>
            </a:pPr>
            <a:r>
              <a:rPr lang="en-US" sz="850" dirty="0">
                <a:solidFill>
                  <a:srgbClr val="8CA0C4"/>
                </a:solidFill>
                <a:latin typeface="Arial" pitchFamily="34" charset="0"/>
                <a:ea typeface="Arial" pitchFamily="34" charset="-122"/>
                <a:cs typeface="Arial" pitchFamily="34" charset="-120"/>
              </a:rPr>
              <a:t>Optimizely Support</a:t>
            </a:r>
            <a:endParaRPr lang="en-US" sz="850" dirty="0"/>
          </a:p>
        </p:txBody>
      </p:sp>
      <p:sp>
        <p:nvSpPr>
          <p:cNvPr id="9" name="Text 7"/>
          <p:cNvSpPr/>
          <p:nvPr/>
        </p:nvSpPr>
        <p:spPr>
          <a:xfrm>
            <a:off x="868680" y="3374136"/>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No QA gate on generated output — no injection-timing test, no idempotency check, no flicker budget.</a:t>
            </a:r>
            <a:endParaRPr lang="en-US" sz="1200" dirty="0"/>
          </a:p>
        </p:txBody>
      </p:sp>
      <p:sp>
        <p:nvSpPr>
          <p:cNvPr id="10" name="Text 8"/>
          <p:cNvSpPr/>
          <p:nvPr/>
        </p:nvSpPr>
        <p:spPr>
          <a:xfrm>
            <a:off x="868680" y="3986784"/>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The custom-code box has always been the platform's most failure-prone surface. AI raises volume, not safety.</a:t>
            </a:r>
            <a:endParaRPr lang="en-US" sz="1200" dirty="0"/>
          </a:p>
        </p:txBody>
      </p:sp>
      <p:sp>
        <p:nvSpPr>
          <p:cNvPr id="11" name="Shape 9"/>
          <p:cNvSpPr/>
          <p:nvPr/>
        </p:nvSpPr>
        <p:spPr>
          <a:xfrm>
            <a:off x="6208776" y="1645920"/>
            <a:ext cx="5431536" cy="3246120"/>
          </a:xfrm>
          <a:prstGeom prst="roundRect">
            <a:avLst>
              <a:gd name="adj" fmla="val 2535"/>
            </a:avLst>
          </a:prstGeom>
          <a:solidFill>
            <a:srgbClr val="18233B"/>
          </a:solidFill>
          <a:ln w="12700">
            <a:solidFill>
              <a:srgbClr val="2EE6A8"/>
            </a:solidFill>
            <a:prstDash val="solid"/>
          </a:ln>
        </p:spPr>
      </p:sp>
      <p:sp>
        <p:nvSpPr>
          <p:cNvPr id="12" name="Text 10"/>
          <p:cNvSpPr/>
          <p:nvPr/>
        </p:nvSpPr>
        <p:spPr>
          <a:xfrm>
            <a:off x="6501384" y="1847088"/>
            <a:ext cx="4846320" cy="320040"/>
          </a:xfrm>
          <a:prstGeom prst="rect">
            <a:avLst/>
          </a:prstGeom>
          <a:noFill/>
          <a:ln/>
        </p:spPr>
        <p:txBody>
          <a:bodyPr wrap="square" lIns="0" tIns="0" rIns="0" bIns="0" rtlCol="0" anchor="ctr"/>
          <a:lstStyle/>
          <a:p>
            <a:pPr indent="0" marL="0">
              <a:buNone/>
            </a:pPr>
            <a:r>
              <a:rPr lang="en-US" sz="1500" b="1" dirty="0">
                <a:solidFill>
                  <a:srgbClr val="2EE6A8"/>
                </a:solidFill>
                <a:latin typeface="Arial" pitchFamily="34" charset="0"/>
                <a:ea typeface="Arial" pitchFamily="34" charset="-122"/>
                <a:cs typeface="Arial" pitchFamily="34" charset="-120"/>
              </a:rPr>
              <a:t>What an enterprise program needs</a:t>
            </a:r>
            <a:endParaRPr lang="en-US" sz="1500" dirty="0"/>
          </a:p>
        </p:txBody>
      </p:sp>
      <p:sp>
        <p:nvSpPr>
          <p:cNvPr id="13" name="Text 11"/>
          <p:cNvSpPr/>
          <p:nvPr/>
        </p:nvSpPr>
        <p:spPr>
          <a:xfrm>
            <a:off x="6528816" y="2304288"/>
            <a:ext cx="477316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A Certification Pipeline on every ship: dual injection timing (early &lt;head&gt; AND post-load), idempotency, re-render survival, zero-analytics scan, same-origin assets, bundle + flicker budget.</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Every check encodes a failure that actually happened in production — including one where the same variation passed review and died silently in the experiment.</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SHA-pinned provenance: review-bytes = ship-bytes = recorded-bytes.</a:t>
            </a:r>
            <a:endParaRPr lang="en-US" sz="1250" dirty="0"/>
          </a:p>
        </p:txBody>
      </p:sp>
      <p:sp>
        <p:nvSpPr>
          <p:cNvPr id="14" name="Shape 12"/>
          <p:cNvSpPr/>
          <p:nvPr/>
        </p:nvSpPr>
        <p:spPr>
          <a:xfrm>
            <a:off x="548640" y="5120640"/>
            <a:ext cx="11091672" cy="914400"/>
          </a:xfrm>
          <a:prstGeom prst="roundRect">
            <a:avLst>
              <a:gd name="adj" fmla="val 9000"/>
            </a:avLst>
          </a:prstGeom>
          <a:solidFill>
            <a:srgbClr val="202E4E"/>
          </a:solidFill>
          <a:ln w="12700">
            <a:solidFill>
              <a:srgbClr val="2EE6A8"/>
            </a:solidFill>
            <a:prstDash val="solid"/>
          </a:ln>
        </p:spPr>
      </p:sp>
      <p:pic>
        <p:nvPicPr>
          <p:cNvPr id="15" name="Image 0" descr="/private/tmp/claude-501/-Users-bryanhopkins-AIChat-resort-ai-chatbot/485380a5-5fbc-481a-aba5-950dd47c1f1d/scratchpad/deck/icons/shield-mint.png">    </p:cNvPr>
          <p:cNvPicPr>
            <a:picLocks noChangeAspect="1"/>
          </p:cNvPicPr>
          <p:nvPr/>
        </p:nvPicPr>
        <p:blipFill>
          <a:blip r:embed="rId1"/>
          <a:stretch>
            <a:fillRect/>
          </a:stretch>
        </p:blipFill>
        <p:spPr>
          <a:xfrm>
            <a:off x="822960" y="5376672"/>
            <a:ext cx="384048" cy="384048"/>
          </a:xfrm>
          <a:prstGeom prst="rect">
            <a:avLst/>
          </a:prstGeom>
        </p:spPr>
      </p:pic>
      <p:sp>
        <p:nvSpPr>
          <p:cNvPr id="16" name="Text 13"/>
          <p:cNvSpPr/>
          <p:nvPr/>
        </p:nvSpPr>
        <p:spPr>
          <a:xfrm>
            <a:off x="1371600" y="5120640"/>
            <a:ext cx="9994392"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enterprise reality: </a:t>
            </a:r>
            <a:pPr indent="0" marL="0">
              <a:buNone/>
            </a:pPr>
            <a:r>
              <a:rPr lang="en-US" sz="1350" dirty="0">
                <a:solidFill>
                  <a:srgbClr val="C9D8F2"/>
                </a:solidFill>
                <a:latin typeface="Arial" pitchFamily="34" charset="0"/>
                <a:ea typeface="Arial" pitchFamily="34" charset="-122"/>
                <a:cs typeface="Arial" pitchFamily="34" charset="-120"/>
              </a:rPr>
              <a:t>code nobody stands behind is risk nobody owns. A certification gate turns the scariest surface in experimentation into the most trustworthy one.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C857"/>
                </a:solidFill>
                <a:latin typeface="Arial" pitchFamily="34" charset="0"/>
                <a:ea typeface="Arial" pitchFamily="34" charset="-122"/>
                <a:cs typeface="Arial" pitchFamily="34" charset="-120"/>
              </a:rPr>
              <a:t>GAP 3 — PROVENANCE &amp; TEAMWORK</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No git, no versions, no team — no memory</a:t>
            </a:r>
            <a:endParaRPr lang="en-US" sz="3000" dirty="0"/>
          </a:p>
        </p:txBody>
      </p:sp>
      <p:sp>
        <p:nvSpPr>
          <p:cNvPr id="4" name="Shape 2"/>
          <p:cNvSpPr/>
          <p:nvPr/>
        </p:nvSpPr>
        <p:spPr>
          <a:xfrm>
            <a:off x="548640" y="1645920"/>
            <a:ext cx="5431536" cy="3246120"/>
          </a:xfrm>
          <a:prstGeom prst="roundRect">
            <a:avLst>
              <a:gd name="adj" fmla="val 2535"/>
            </a:avLst>
          </a:prstGeom>
          <a:solidFill>
            <a:srgbClr val="18233B"/>
          </a:solidFill>
          <a:ln w="12700">
            <a:solidFill>
              <a:srgbClr val="18233B"/>
            </a:solidFill>
            <a:prstDash val="solid"/>
          </a:ln>
        </p:spPr>
      </p:sp>
      <p:sp>
        <p:nvSpPr>
          <p:cNvPr id="5" name="Text 3"/>
          <p:cNvSpPr/>
          <p:nvPr/>
        </p:nvSpPr>
        <p:spPr>
          <a:xfrm>
            <a:off x="841248" y="1847088"/>
            <a:ext cx="4846320" cy="320040"/>
          </a:xfrm>
          <a:prstGeom prst="rect">
            <a:avLst/>
          </a:prstGeom>
          <a:noFill/>
          <a:ln/>
        </p:spPr>
        <p:txBody>
          <a:bodyPr wrap="square" lIns="0" tIns="0" rIns="0" bIns="0" rtlCol="0" anchor="ctr"/>
          <a:lstStyle/>
          <a:p>
            <a:pPr indent="0" marL="0">
              <a:buNone/>
            </a:pPr>
            <a:r>
              <a:rPr lang="en-US" sz="1500" b="1" dirty="0">
                <a:solidFill>
                  <a:srgbClr val="8CA0C4"/>
                </a:solidFill>
                <a:latin typeface="Arial" pitchFamily="34" charset="0"/>
                <a:ea typeface="Arial" pitchFamily="34" charset="-122"/>
                <a:cs typeface="Arial" pitchFamily="34" charset="-120"/>
              </a:rPr>
              <a:t>In Opal today</a:t>
            </a:r>
            <a:endParaRPr lang="en-US" sz="1500" dirty="0"/>
          </a:p>
        </p:txBody>
      </p:sp>
      <p:sp>
        <p:nvSpPr>
          <p:cNvPr id="6" name="Text 4"/>
          <p:cNvSpPr/>
          <p:nvPr/>
        </p:nvSpPr>
        <p:spPr>
          <a:xfrm>
            <a:off x="868680" y="2286000"/>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No version control, export, or code-ownership workflow documented anywhere for generated variations.</a:t>
            </a:r>
            <a:endParaRPr lang="en-US" sz="1200" dirty="0"/>
          </a:p>
        </p:txBody>
      </p:sp>
      <p:sp>
        <p:nvSpPr>
          <p:cNvPr id="7" name="Text 5"/>
          <p:cNvSpPr/>
          <p:nvPr/>
        </p:nvSpPr>
        <p:spPr>
          <a:xfrm>
            <a:off x="868680" y="2898648"/>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Changes live in the editor's change list; the audit answer to “what exactly ran?” is a UI diff, not a commit.</a:t>
            </a:r>
            <a:endParaRPr lang="en-US" sz="1200" dirty="0"/>
          </a:p>
        </p:txBody>
      </p:sp>
      <p:sp>
        <p:nvSpPr>
          <p:cNvPr id="8" name="Text 6"/>
          <p:cNvSpPr/>
          <p:nvPr/>
        </p:nvSpPr>
        <p:spPr>
          <a:xfrm>
            <a:off x="868680" y="3511296"/>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Single-player: no documented way for a team to work the same variation, review it, or approve it.</a:t>
            </a:r>
            <a:endParaRPr lang="en-US" sz="1200" dirty="0"/>
          </a:p>
        </p:txBody>
      </p:sp>
      <p:sp>
        <p:nvSpPr>
          <p:cNvPr id="9" name="Text 7"/>
          <p:cNvSpPr/>
          <p:nvPr/>
        </p:nvSpPr>
        <p:spPr>
          <a:xfrm>
            <a:off x="868680" y="4123944"/>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Per-experiment isolation: the agent's only context is that experiment's other variations. Nothing compounds.</a:t>
            </a:r>
            <a:endParaRPr lang="en-US" sz="1200" dirty="0"/>
          </a:p>
        </p:txBody>
      </p:sp>
      <p:sp>
        <p:nvSpPr>
          <p:cNvPr id="10" name="Shape 8"/>
          <p:cNvSpPr/>
          <p:nvPr/>
        </p:nvSpPr>
        <p:spPr>
          <a:xfrm>
            <a:off x="6208776" y="1645920"/>
            <a:ext cx="5431536" cy="3246120"/>
          </a:xfrm>
          <a:prstGeom prst="roundRect">
            <a:avLst>
              <a:gd name="adj" fmla="val 2535"/>
            </a:avLst>
          </a:prstGeom>
          <a:solidFill>
            <a:srgbClr val="18233B"/>
          </a:solidFill>
          <a:ln w="12700">
            <a:solidFill>
              <a:srgbClr val="2EE6A8"/>
            </a:solidFill>
            <a:prstDash val="solid"/>
          </a:ln>
        </p:spPr>
      </p:sp>
      <p:sp>
        <p:nvSpPr>
          <p:cNvPr id="11" name="Text 9"/>
          <p:cNvSpPr/>
          <p:nvPr/>
        </p:nvSpPr>
        <p:spPr>
          <a:xfrm>
            <a:off x="6501384" y="1847088"/>
            <a:ext cx="4846320" cy="320040"/>
          </a:xfrm>
          <a:prstGeom prst="rect">
            <a:avLst/>
          </a:prstGeom>
          <a:noFill/>
          <a:ln/>
        </p:spPr>
        <p:txBody>
          <a:bodyPr wrap="square" lIns="0" tIns="0" rIns="0" bIns="0" rtlCol="0" anchor="ctr"/>
          <a:lstStyle/>
          <a:p>
            <a:pPr indent="0" marL="0">
              <a:buNone/>
            </a:pPr>
            <a:r>
              <a:rPr lang="en-US" sz="1500" b="1" dirty="0">
                <a:solidFill>
                  <a:srgbClr val="2EE6A8"/>
                </a:solidFill>
                <a:latin typeface="Arial" pitchFamily="34" charset="0"/>
                <a:ea typeface="Arial" pitchFamily="34" charset="-122"/>
                <a:cs typeface="Arial" pitchFamily="34" charset="-120"/>
              </a:rPr>
              <a:t>What an enterprise program needs</a:t>
            </a:r>
            <a:endParaRPr lang="en-US" sz="1500" dirty="0"/>
          </a:p>
        </p:txBody>
      </p:sp>
      <p:sp>
        <p:nvSpPr>
          <p:cNvPr id="12" name="Text 10"/>
          <p:cNvSpPr/>
          <p:nvPr/>
        </p:nvSpPr>
        <p:spPr>
          <a:xfrm>
            <a:off x="6528816" y="2304288"/>
            <a:ext cx="477316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Every variation is a git branch any teammate — or any agent — can pick up, diff, review, and resume.</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Immutable SHA-pinned versions; drift guards; an experiment ledger that answers “what ran, when, from which commit” forever.</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Knowledge compounds: skills, captured page intelligence, and design tokens carry across every prototype and every brand.</a:t>
            </a:r>
            <a:endParaRPr lang="en-US" sz="1250" dirty="0"/>
          </a:p>
        </p:txBody>
      </p:sp>
      <p:sp>
        <p:nvSpPr>
          <p:cNvPr id="13" name="Shape 11"/>
          <p:cNvSpPr/>
          <p:nvPr/>
        </p:nvSpPr>
        <p:spPr>
          <a:xfrm>
            <a:off x="548640" y="5120640"/>
            <a:ext cx="11091672" cy="914400"/>
          </a:xfrm>
          <a:prstGeom prst="roundRect">
            <a:avLst>
              <a:gd name="adj" fmla="val 9000"/>
            </a:avLst>
          </a:prstGeom>
          <a:solidFill>
            <a:srgbClr val="202E4E"/>
          </a:solidFill>
          <a:ln w="12700">
            <a:solidFill>
              <a:srgbClr val="4D8DFF"/>
            </a:solidFill>
            <a:prstDash val="solid"/>
          </a:ln>
        </p:spPr>
      </p:sp>
      <p:pic>
        <p:nvPicPr>
          <p:cNvPr id="14" name="Image 0" descr="/private/tmp/claude-501/-Users-bryanhopkins-AIChat-resort-ai-chatbot/485380a5-5fbc-481a-aba5-950dd47c1f1d/scratchpad/deck/icons/branch-blue.png">    </p:cNvPr>
          <p:cNvPicPr>
            <a:picLocks noChangeAspect="1"/>
          </p:cNvPicPr>
          <p:nvPr/>
        </p:nvPicPr>
        <p:blipFill>
          <a:blip r:embed="rId1"/>
          <a:stretch>
            <a:fillRect/>
          </a:stretch>
        </p:blipFill>
        <p:spPr>
          <a:xfrm>
            <a:off x="822960" y="5376672"/>
            <a:ext cx="384048" cy="384048"/>
          </a:xfrm>
          <a:prstGeom prst="rect">
            <a:avLst/>
          </a:prstGeom>
        </p:spPr>
      </p:pic>
      <p:sp>
        <p:nvSpPr>
          <p:cNvPr id="15" name="Text 12"/>
          <p:cNvSpPr/>
          <p:nvPr/>
        </p:nvSpPr>
        <p:spPr>
          <a:xfrm>
            <a:off x="1371600" y="5120640"/>
            <a:ext cx="9994392"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enterprise reality: </a:t>
            </a:r>
            <a:pPr indent="0" marL="0">
              <a:buNone/>
            </a:pPr>
            <a:r>
              <a:rPr lang="en-US" sz="1350" dirty="0">
                <a:solidFill>
                  <a:srgbClr val="C9D8F2"/>
                </a:solidFill>
                <a:latin typeface="Arial" pitchFamily="34" charset="0"/>
                <a:ea typeface="Arial" pitchFamily="34" charset="-122"/>
                <a:cs typeface="Arial" pitchFamily="34" charset="-120"/>
              </a:rPr>
              <a:t>experimentation programs are institutional memory. A platform that can't remember what it built — or let a team build together — can't run one.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C857"/>
                </a:solidFill>
                <a:latin typeface="Arial" pitchFamily="34" charset="0"/>
                <a:ea typeface="Arial" pitchFamily="34" charset="-122"/>
                <a:cs typeface="Arial" pitchFamily="34" charset="-120"/>
              </a:rPr>
              <a:t>GAP 4 — TRUTH &amp; SHIPPING</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Preview isn't truth, and winners still strand</a:t>
            </a:r>
            <a:endParaRPr lang="en-US" sz="3000" dirty="0"/>
          </a:p>
        </p:txBody>
      </p:sp>
      <p:sp>
        <p:nvSpPr>
          <p:cNvPr id="4" name="Shape 2"/>
          <p:cNvSpPr/>
          <p:nvPr/>
        </p:nvSpPr>
        <p:spPr>
          <a:xfrm>
            <a:off x="548640" y="1645920"/>
            <a:ext cx="5431536" cy="3246120"/>
          </a:xfrm>
          <a:prstGeom prst="roundRect">
            <a:avLst>
              <a:gd name="adj" fmla="val 2535"/>
            </a:avLst>
          </a:prstGeom>
          <a:solidFill>
            <a:srgbClr val="18233B"/>
          </a:solidFill>
          <a:ln w="12700">
            <a:solidFill>
              <a:srgbClr val="18233B"/>
            </a:solidFill>
            <a:prstDash val="solid"/>
          </a:ln>
        </p:spPr>
      </p:sp>
      <p:sp>
        <p:nvSpPr>
          <p:cNvPr id="5" name="Text 3"/>
          <p:cNvSpPr/>
          <p:nvPr/>
        </p:nvSpPr>
        <p:spPr>
          <a:xfrm>
            <a:off x="841248" y="1847088"/>
            <a:ext cx="4846320" cy="320040"/>
          </a:xfrm>
          <a:prstGeom prst="rect">
            <a:avLst/>
          </a:prstGeom>
          <a:noFill/>
          <a:ln/>
        </p:spPr>
        <p:txBody>
          <a:bodyPr wrap="square" lIns="0" tIns="0" rIns="0" bIns="0" rtlCol="0" anchor="ctr"/>
          <a:lstStyle/>
          <a:p>
            <a:pPr indent="0" marL="0">
              <a:buNone/>
            </a:pPr>
            <a:r>
              <a:rPr lang="en-US" sz="1500" b="1" dirty="0">
                <a:solidFill>
                  <a:srgbClr val="8CA0C4"/>
                </a:solidFill>
                <a:latin typeface="Arial" pitchFamily="34" charset="0"/>
                <a:ea typeface="Arial" pitchFamily="34" charset="-122"/>
                <a:cs typeface="Arial" pitchFamily="34" charset="-120"/>
              </a:rPr>
              <a:t>In Opal today</a:t>
            </a:r>
            <a:endParaRPr lang="en-US" sz="1500" dirty="0"/>
          </a:p>
        </p:txBody>
      </p:sp>
      <p:sp>
        <p:nvSpPr>
          <p:cNvPr id="6" name="Text 4"/>
          <p:cNvSpPr/>
          <p:nvPr/>
        </p:nvSpPr>
        <p:spPr>
          <a:xfrm>
            <a:off x="868680" y="2286000"/>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Review = an in-editor before/after preview. No stakeholder link on the real site, no ground-truth status.</a:t>
            </a:r>
            <a:endParaRPr lang="en-US" sz="1200" dirty="0"/>
          </a:p>
        </p:txBody>
      </p:sp>
      <p:sp>
        <p:nvSpPr>
          <p:cNvPr id="7" name="Text 5"/>
          <p:cNvSpPr/>
          <p:nvPr/>
        </p:nvSpPr>
        <p:spPr>
          <a:xfrm>
            <a:off x="868680" y="2898648"/>
            <a:ext cx="4745736" cy="566928"/>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No real-environment injection before the experiment exists — the first honest render is in production traffic.</a:t>
            </a:r>
            <a:endParaRPr lang="en-US" sz="1200" dirty="0"/>
          </a:p>
        </p:txBody>
      </p:sp>
      <p:sp>
        <p:nvSpPr>
          <p:cNvPr id="8" name="Text 6"/>
          <p:cNvSpPr/>
          <p:nvPr/>
        </p:nvSpPr>
        <p:spPr>
          <a:xfrm>
            <a:off x="868680" y="3511296"/>
            <a:ext cx="4745736" cy="822960"/>
          </a:xfrm>
          <a:prstGeom prst="rect">
            <a:avLst/>
          </a:prstGeom>
          <a:noFill/>
          <a:ln/>
        </p:spPr>
        <p:txBody>
          <a:bodyPr wrap="square" lIns="0" tIns="0" rIns="0" bIns="0" rtlCol="0" anchor="ctr"/>
          <a:lstStyle/>
          <a:p>
            <a:pPr marL="342900" indent="-342900">
              <a:buSzPct val="100000"/>
              <a:buChar char="•"/>
            </a:pPr>
            <a:r>
              <a:rPr lang="en-US" sz="1200" dirty="0">
                <a:solidFill>
                  <a:srgbClr val="8CA0C4"/>
                </a:solidFill>
                <a:latin typeface="Arial" pitchFamily="34" charset="0"/>
                <a:ea typeface="Arial" pitchFamily="34" charset="-122"/>
                <a:cs typeface="Arial" pitchFamily="34" charset="-120"/>
              </a:rPr>
              <a:t>Nothing changed about the oldest problem: a winning variation remains client-side changes (or disclaimed code) with no path to production source.</a:t>
            </a:r>
            <a:endParaRPr lang="en-US" sz="1200" dirty="0"/>
          </a:p>
        </p:txBody>
      </p:sp>
      <p:sp>
        <p:nvSpPr>
          <p:cNvPr id="9" name="Shape 7"/>
          <p:cNvSpPr/>
          <p:nvPr/>
        </p:nvSpPr>
        <p:spPr>
          <a:xfrm>
            <a:off x="6208776" y="1645920"/>
            <a:ext cx="5431536" cy="3246120"/>
          </a:xfrm>
          <a:prstGeom prst="roundRect">
            <a:avLst>
              <a:gd name="adj" fmla="val 2535"/>
            </a:avLst>
          </a:prstGeom>
          <a:solidFill>
            <a:srgbClr val="18233B"/>
          </a:solidFill>
          <a:ln w="12700">
            <a:solidFill>
              <a:srgbClr val="2EE6A8"/>
            </a:solidFill>
            <a:prstDash val="solid"/>
          </a:ln>
        </p:spPr>
      </p:sp>
      <p:sp>
        <p:nvSpPr>
          <p:cNvPr id="10" name="Text 8"/>
          <p:cNvSpPr/>
          <p:nvPr/>
        </p:nvSpPr>
        <p:spPr>
          <a:xfrm>
            <a:off x="6501384" y="1847088"/>
            <a:ext cx="4846320" cy="320040"/>
          </a:xfrm>
          <a:prstGeom prst="rect">
            <a:avLst/>
          </a:prstGeom>
          <a:noFill/>
          <a:ln/>
        </p:spPr>
        <p:txBody>
          <a:bodyPr wrap="square" lIns="0" tIns="0" rIns="0" bIns="0" rtlCol="0" anchor="ctr"/>
          <a:lstStyle/>
          <a:p>
            <a:pPr indent="0" marL="0">
              <a:buNone/>
            </a:pPr>
            <a:r>
              <a:rPr lang="en-US" sz="1500" b="1" dirty="0">
                <a:solidFill>
                  <a:srgbClr val="2EE6A8"/>
                </a:solidFill>
                <a:latin typeface="Arial" pitchFamily="34" charset="0"/>
                <a:ea typeface="Arial" pitchFamily="34" charset="-122"/>
                <a:cs typeface="Arial" pitchFamily="34" charset="-120"/>
              </a:rPr>
              <a:t>What an enterprise program needs</a:t>
            </a:r>
            <a:endParaRPr lang="en-US" sz="1500" dirty="0"/>
          </a:p>
        </p:txBody>
      </p:sp>
      <p:sp>
        <p:nvSpPr>
          <p:cNvPr id="11" name="Text 9"/>
          <p:cNvSpPr/>
          <p:nvPr/>
        </p:nvSpPr>
        <p:spPr>
          <a:xfrm>
            <a:off x="6528816" y="2304288"/>
            <a:ext cx="477316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Token-gated loader injects the build on the customer's actual lower environment — stakeholders review the real page before any experiment exists.</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Ground-truth APIs: served commit vs repo HEAD, cache age, artifact problems. Staleness is a fact you poll, not a feeling.</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Winner → production PR: the agent drafts the native implementation against the real source tree; humans review and merge.</a:t>
            </a:r>
            <a:endParaRPr lang="en-US" sz="1250" dirty="0"/>
          </a:p>
        </p:txBody>
      </p:sp>
      <p:sp>
        <p:nvSpPr>
          <p:cNvPr id="12" name="Shape 10"/>
          <p:cNvSpPr/>
          <p:nvPr/>
        </p:nvSpPr>
        <p:spPr>
          <a:xfrm>
            <a:off x="548640" y="5120640"/>
            <a:ext cx="11091672" cy="914400"/>
          </a:xfrm>
          <a:prstGeom prst="roundRect">
            <a:avLst>
              <a:gd name="adj" fmla="val 9000"/>
            </a:avLst>
          </a:prstGeom>
          <a:solidFill>
            <a:srgbClr val="202E4E"/>
          </a:solidFill>
          <a:ln w="12700">
            <a:solidFill>
              <a:srgbClr val="FFC857"/>
            </a:solidFill>
            <a:prstDash val="solid"/>
          </a:ln>
        </p:spPr>
      </p:sp>
      <p:pic>
        <p:nvPicPr>
          <p:cNvPr id="13" name="Image 0" descr="/private/tmp/claude-501/-Users-bryanhopkins-AIChat-resort-ai-chatbot/485380a5-5fbc-481a-aba5-950dd47c1f1d/scratchpad/deck/icons/pr-gold.png">    </p:cNvPr>
          <p:cNvPicPr>
            <a:picLocks noChangeAspect="1"/>
          </p:cNvPicPr>
          <p:nvPr/>
        </p:nvPicPr>
        <p:blipFill>
          <a:blip r:embed="rId1"/>
          <a:stretch>
            <a:fillRect/>
          </a:stretch>
        </p:blipFill>
        <p:spPr>
          <a:xfrm>
            <a:off x="822960" y="5376672"/>
            <a:ext cx="384048" cy="384048"/>
          </a:xfrm>
          <a:prstGeom prst="rect">
            <a:avLst/>
          </a:prstGeom>
        </p:spPr>
      </p:pic>
      <p:sp>
        <p:nvSpPr>
          <p:cNvPr id="14" name="Text 11"/>
          <p:cNvSpPr/>
          <p:nvPr/>
        </p:nvSpPr>
        <p:spPr>
          <a:xfrm>
            <a:off x="1371600" y="5120640"/>
            <a:ext cx="9994392"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enterprise reality: </a:t>
            </a:r>
            <a:pPr indent="0" marL="0">
              <a:buNone/>
            </a:pPr>
            <a:r>
              <a:rPr lang="en-US" sz="1350" dirty="0">
                <a:solidFill>
                  <a:srgbClr val="C9D8F2"/>
                </a:solidFill>
                <a:latin typeface="Arial" pitchFamily="34" charset="0"/>
                <a:ea typeface="Arial" pitchFamily="34" charset="-122"/>
                <a:cs typeface="Arial" pitchFamily="34" charset="-120"/>
              </a:rPr>
              <a:t>a program is judged by what ships. Winners stranded as orphaned JavaScript are the industry's quiet scandal — ending that is the whole point of the layer.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FF6B6B"/>
                </a:solidFill>
                <a:latin typeface="Arial" pitchFamily="34" charset="0"/>
                <a:ea typeface="Arial" pitchFamily="34" charset="-122"/>
                <a:cs typeface="Arial" pitchFamily="34" charset="-120"/>
              </a:rPr>
              <a:t>GAP 5 — GOVERNANCE</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Who chose the model that changed your website?</a:t>
            </a:r>
            <a:endParaRPr lang="en-US" sz="3000" dirty="0"/>
          </a:p>
        </p:txBody>
      </p:sp>
      <p:sp>
        <p:nvSpPr>
          <p:cNvPr id="4" name="Shape 2"/>
          <p:cNvSpPr/>
          <p:nvPr/>
        </p:nvSpPr>
        <p:spPr>
          <a:xfrm>
            <a:off x="548640" y="1691640"/>
            <a:ext cx="5431536" cy="3017520"/>
          </a:xfrm>
          <a:prstGeom prst="roundRect">
            <a:avLst>
              <a:gd name="adj" fmla="val 2727"/>
            </a:avLst>
          </a:prstGeom>
          <a:solidFill>
            <a:srgbClr val="18233B"/>
          </a:solidFill>
          <a:ln w="12700">
            <a:solidFill>
              <a:srgbClr val="18233B"/>
            </a:solidFill>
            <a:prstDash val="solid"/>
          </a:ln>
        </p:spPr>
      </p:sp>
      <p:sp>
        <p:nvSpPr>
          <p:cNvPr id="5" name="Text 3"/>
          <p:cNvSpPr/>
          <p:nvPr/>
        </p:nvSpPr>
        <p:spPr>
          <a:xfrm>
            <a:off x="841248" y="1892808"/>
            <a:ext cx="4846320" cy="320040"/>
          </a:xfrm>
          <a:prstGeom prst="rect">
            <a:avLst/>
          </a:prstGeom>
          <a:noFill/>
          <a:ln/>
        </p:spPr>
        <p:txBody>
          <a:bodyPr wrap="square" lIns="0" tIns="0" rIns="0" bIns="0" rtlCol="0" anchor="ctr"/>
          <a:lstStyle/>
          <a:p>
            <a:pPr indent="0" marL="0">
              <a:buNone/>
            </a:pPr>
            <a:r>
              <a:rPr lang="en-US" sz="1500" b="1" dirty="0">
                <a:solidFill>
                  <a:srgbClr val="8CA0C4"/>
                </a:solidFill>
                <a:latin typeface="Arial" pitchFamily="34" charset="0"/>
                <a:ea typeface="Arial" pitchFamily="34" charset="-122"/>
                <a:cs typeface="Arial" pitchFamily="34" charset="-120"/>
              </a:rPr>
              <a:t>In Opal today</a:t>
            </a:r>
            <a:endParaRPr lang="en-US" sz="1500" dirty="0"/>
          </a:p>
        </p:txBody>
      </p:sp>
      <p:sp>
        <p:nvSpPr>
          <p:cNvPr id="6" name="Shape 4"/>
          <p:cNvSpPr/>
          <p:nvPr/>
        </p:nvSpPr>
        <p:spPr>
          <a:xfrm>
            <a:off x="804672" y="2313432"/>
            <a:ext cx="4919472" cy="868680"/>
          </a:xfrm>
          <a:prstGeom prst="roundRect">
            <a:avLst>
              <a:gd name="adj" fmla="val 9474"/>
            </a:avLst>
          </a:prstGeom>
          <a:solidFill>
            <a:srgbClr val="0B1220"/>
          </a:solidFill>
          <a:ln w="12700">
            <a:solidFill>
              <a:srgbClr val="2A3A5E"/>
            </a:solidFill>
            <a:prstDash val="solid"/>
          </a:ln>
        </p:spPr>
      </p:sp>
      <p:sp>
        <p:nvSpPr>
          <p:cNvPr id="7" name="Text 5"/>
          <p:cNvSpPr/>
          <p:nvPr/>
        </p:nvSpPr>
        <p:spPr>
          <a:xfrm>
            <a:off x="969264" y="2386584"/>
            <a:ext cx="4562856" cy="548640"/>
          </a:xfrm>
          <a:prstGeom prst="rect">
            <a:avLst/>
          </a:prstGeom>
          <a:noFill/>
          <a:ln/>
        </p:spPr>
        <p:txBody>
          <a:bodyPr wrap="square" lIns="0" tIns="0" rIns="0" bIns="0" rtlCol="0" anchor="ctr"/>
          <a:lstStyle/>
          <a:p>
            <a:pPr indent="0" marL="0">
              <a:buNone/>
            </a:pPr>
            <a:r>
              <a:rPr lang="en-US" sz="1150" i="1" dirty="0">
                <a:solidFill>
                  <a:srgbClr val="C9D8F2"/>
                </a:solidFill>
                <a:latin typeface="Arial" pitchFamily="34" charset="0"/>
                <a:ea typeface="Arial" pitchFamily="34" charset="-122"/>
                <a:cs typeface="Arial" pitchFamily="34" charset="-120"/>
              </a:rPr>
              <a:t>“Optimizely may allocate Opal workloads to any of its approved LLM models.”</a:t>
            </a:r>
            <a:endParaRPr lang="en-US" sz="1150" dirty="0"/>
          </a:p>
        </p:txBody>
      </p:sp>
      <p:sp>
        <p:nvSpPr>
          <p:cNvPr id="8" name="Text 6"/>
          <p:cNvSpPr/>
          <p:nvPr/>
        </p:nvSpPr>
        <p:spPr>
          <a:xfrm>
            <a:off x="969264" y="2907792"/>
            <a:ext cx="4562856" cy="228600"/>
          </a:xfrm>
          <a:prstGeom prst="rect">
            <a:avLst/>
          </a:prstGeom>
          <a:noFill/>
          <a:ln/>
        </p:spPr>
        <p:txBody>
          <a:bodyPr wrap="square" lIns="0" tIns="0" rIns="0" bIns="0" rtlCol="0" anchor="ctr"/>
          <a:lstStyle/>
          <a:p>
            <a:pPr indent="0" marL="0">
              <a:buNone/>
            </a:pPr>
            <a:r>
              <a:rPr lang="en-US" sz="850" dirty="0">
                <a:solidFill>
                  <a:srgbClr val="8CA0C4"/>
                </a:solidFill>
                <a:latin typeface="Arial" pitchFamily="34" charset="0"/>
                <a:ea typeface="Arial" pitchFamily="34" charset="-122"/>
                <a:cs typeface="Arial" pitchFamily="34" charset="-120"/>
              </a:rPr>
              <a:t>Opal LLM policy, effective March 12, 2026</a:t>
            </a:r>
            <a:endParaRPr lang="en-US" sz="850" dirty="0"/>
          </a:p>
        </p:txBody>
      </p:sp>
      <p:sp>
        <p:nvSpPr>
          <p:cNvPr id="9" name="Text 7"/>
          <p:cNvSpPr/>
          <p:nvPr/>
        </p:nvSpPr>
        <p:spPr>
          <a:xfrm>
            <a:off x="868680" y="3383280"/>
            <a:ext cx="4745736" cy="118872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8CA0C4"/>
                </a:solidFill>
                <a:latin typeface="Arial" pitchFamily="34" charset="0"/>
                <a:ea typeface="Arial" pitchFamily="34" charset="-122"/>
                <a:cs typeface="Arial" pitchFamily="34" charset="-120"/>
              </a:rPr>
              <a:t>The customer doesn't pick, pin, or audit which model authored a change.</a:t>
            </a:r>
            <a:endParaRPr lang="en-US" sz="1200" dirty="0"/>
          </a:p>
          <a:p>
            <a:pPr marL="342900" indent="-342900">
              <a:spcAft>
                <a:spcPts val="1000"/>
              </a:spcAft>
              <a:buSzPct val="100000"/>
              <a:buChar char="•"/>
            </a:pPr>
            <a:r>
              <a:rPr lang="en-US" sz="1200" dirty="0">
                <a:solidFill>
                  <a:srgbClr val="8CA0C4"/>
                </a:solidFill>
                <a:latin typeface="Arial" pitchFamily="34" charset="0"/>
                <a:ea typeface="Arial" pitchFamily="34" charset="-122"/>
                <a:cs typeface="Arial" pitchFamily="34" charset="-120"/>
              </a:rPr>
              <a:t>Credit-metered agent actions — cost and behavior both platform-allocated.</a:t>
            </a:r>
            <a:endParaRPr lang="en-US" sz="1200" dirty="0"/>
          </a:p>
        </p:txBody>
      </p:sp>
      <p:sp>
        <p:nvSpPr>
          <p:cNvPr id="10" name="Shape 8"/>
          <p:cNvSpPr/>
          <p:nvPr/>
        </p:nvSpPr>
        <p:spPr>
          <a:xfrm>
            <a:off x="6208776" y="1691640"/>
            <a:ext cx="5431536" cy="3017520"/>
          </a:xfrm>
          <a:prstGeom prst="roundRect">
            <a:avLst>
              <a:gd name="adj" fmla="val 2727"/>
            </a:avLst>
          </a:prstGeom>
          <a:solidFill>
            <a:srgbClr val="18233B"/>
          </a:solidFill>
          <a:ln w="12700">
            <a:solidFill>
              <a:srgbClr val="2EE6A8"/>
            </a:solidFill>
            <a:prstDash val="solid"/>
          </a:ln>
        </p:spPr>
      </p:sp>
      <p:sp>
        <p:nvSpPr>
          <p:cNvPr id="11" name="Text 9"/>
          <p:cNvSpPr/>
          <p:nvPr/>
        </p:nvSpPr>
        <p:spPr>
          <a:xfrm>
            <a:off x="6501384" y="1892808"/>
            <a:ext cx="4846320" cy="320040"/>
          </a:xfrm>
          <a:prstGeom prst="rect">
            <a:avLst/>
          </a:prstGeom>
          <a:noFill/>
          <a:ln/>
        </p:spPr>
        <p:txBody>
          <a:bodyPr wrap="square" lIns="0" tIns="0" rIns="0" bIns="0" rtlCol="0" anchor="ctr"/>
          <a:lstStyle/>
          <a:p>
            <a:pPr indent="0" marL="0">
              <a:buNone/>
            </a:pPr>
            <a:r>
              <a:rPr lang="en-US" sz="1500" b="1" dirty="0">
                <a:solidFill>
                  <a:srgbClr val="2EE6A8"/>
                </a:solidFill>
                <a:latin typeface="Arial" pitchFamily="34" charset="0"/>
                <a:ea typeface="Arial" pitchFamily="34" charset="-122"/>
                <a:cs typeface="Arial" pitchFamily="34" charset="-120"/>
              </a:rPr>
              <a:t>What an enterprise program needs</a:t>
            </a:r>
            <a:endParaRPr lang="en-US" sz="1500" dirty="0"/>
          </a:p>
        </p:txBody>
      </p:sp>
      <p:sp>
        <p:nvSpPr>
          <p:cNvPr id="12" name="Text 10"/>
          <p:cNvSpPr/>
          <p:nvPr/>
        </p:nvSpPr>
        <p:spPr>
          <a:xfrm>
            <a:off x="6528816" y="2350008"/>
            <a:ext cx="4773168" cy="219456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The authoring agent is the customer's own — model chosen, pinned, and known.</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The full session transcript is the audit trail: every decision, every file touched, reviewable.</a:t>
            </a:r>
            <a:endParaRPr lang="en-US" sz="1250" dirty="0"/>
          </a:p>
          <a:p>
            <a:pPr marL="342900" indent="-342900">
              <a:spcAft>
                <a:spcPts val="1000"/>
              </a:spcAft>
              <a:buSzPct val="100000"/>
              <a:buChar char="•"/>
            </a:pPr>
            <a:r>
              <a:rPr lang="en-US" sz="1250" dirty="0">
                <a:solidFill>
                  <a:srgbClr val="C9D8F2"/>
                </a:solidFill>
                <a:latin typeface="Arial" pitchFamily="34" charset="0"/>
                <a:ea typeface="Arial" pitchFamily="34" charset="-122"/>
                <a:cs typeface="Arial" pitchFamily="34" charset="-120"/>
              </a:rPr>
              <a:t>Humans gate everything that matters: brief sign-off, review approval, PR merge.</a:t>
            </a:r>
            <a:endParaRPr lang="en-US" sz="1250" dirty="0"/>
          </a:p>
        </p:txBody>
      </p:sp>
      <p:sp>
        <p:nvSpPr>
          <p:cNvPr id="13" name="Shape 11"/>
          <p:cNvSpPr/>
          <p:nvPr/>
        </p:nvSpPr>
        <p:spPr>
          <a:xfrm>
            <a:off x="548640" y="4983480"/>
            <a:ext cx="11091672" cy="914400"/>
          </a:xfrm>
          <a:prstGeom prst="roundRect">
            <a:avLst>
              <a:gd name="adj" fmla="val 9000"/>
            </a:avLst>
          </a:prstGeom>
          <a:solidFill>
            <a:srgbClr val="202E4E"/>
          </a:solidFill>
          <a:ln w="12700">
            <a:solidFill>
              <a:srgbClr val="4D8DFF"/>
            </a:solidFill>
            <a:prstDash val="solid"/>
          </a:ln>
        </p:spPr>
      </p:sp>
      <p:pic>
        <p:nvPicPr>
          <p:cNvPr id="14" name="Image 0" descr="/private/tmp/claude-501/-Users-bryanhopkins-AIChat-resort-ai-chatbot/485380a5-5fbc-481a-aba5-950dd47c1f1d/scratchpad/deck/icons/lock-blue.png">    </p:cNvPr>
          <p:cNvPicPr>
            <a:picLocks noChangeAspect="1"/>
          </p:cNvPicPr>
          <p:nvPr/>
        </p:nvPicPr>
        <p:blipFill>
          <a:blip r:embed="rId1"/>
          <a:stretch>
            <a:fillRect/>
          </a:stretch>
        </p:blipFill>
        <p:spPr>
          <a:xfrm>
            <a:off x="822960" y="5239512"/>
            <a:ext cx="384048" cy="384048"/>
          </a:xfrm>
          <a:prstGeom prst="rect">
            <a:avLst/>
          </a:prstGeom>
        </p:spPr>
      </p:pic>
      <p:sp>
        <p:nvSpPr>
          <p:cNvPr id="15" name="Text 12"/>
          <p:cNvSpPr/>
          <p:nvPr/>
        </p:nvSpPr>
        <p:spPr>
          <a:xfrm>
            <a:off x="1371600" y="4983480"/>
            <a:ext cx="9994392"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enterprise reality: </a:t>
            </a:r>
            <a:pPr indent="0" marL="0">
              <a:buNone/>
            </a:pPr>
            <a:r>
              <a:rPr lang="en-US" sz="1350" dirty="0">
                <a:solidFill>
                  <a:srgbClr val="C9D8F2"/>
                </a:solidFill>
                <a:latin typeface="Arial" pitchFamily="34" charset="0"/>
                <a:ea typeface="Arial" pitchFamily="34" charset="-122"/>
                <a:cs typeface="Arial" pitchFamily="34" charset="-120"/>
              </a:rPr>
              <a:t>compliance teams will ask who — and what — changed the production website. “An allocated model, on credits” is not an answer that survives an audit.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4D8DFF"/>
                </a:solidFill>
                <a:latin typeface="Arial" pitchFamily="34" charset="0"/>
                <a:ea typeface="Arial" pitchFamily="34" charset="-122"/>
                <a:cs typeface="Arial" pitchFamily="34" charset="-120"/>
              </a:rPr>
              <a:t>THE FEATURE BOARD</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Feature by feature: the platform, Opal, and the layer</a:t>
            </a:r>
            <a:endParaRPr lang="en-US" sz="3000" dirty="0"/>
          </a:p>
        </p:txBody>
      </p:sp>
      <p:sp>
        <p:nvSpPr>
          <p:cNvPr id="4" name="Text 2"/>
          <p:cNvSpPr/>
          <p:nvPr/>
        </p:nvSpPr>
        <p:spPr>
          <a:xfrm>
            <a:off x="5623560" y="1481328"/>
            <a:ext cx="1929384" cy="384048"/>
          </a:xfrm>
          <a:prstGeom prst="rect">
            <a:avLst/>
          </a:prstGeom>
          <a:noFill/>
          <a:ln/>
        </p:spPr>
        <p:txBody>
          <a:bodyPr wrap="square" lIns="0" tIns="0" rIns="0" bIns="0" rtlCol="0" anchor="ctr"/>
          <a:lstStyle/>
          <a:p>
            <a:pPr algn="ctr" indent="0" marL="0">
              <a:buNone/>
            </a:pPr>
            <a:r>
              <a:rPr lang="en-US" sz="1050" b="1" dirty="0">
                <a:solidFill>
                  <a:srgbClr val="8CA0C4"/>
                </a:solidFill>
                <a:latin typeface="Arial" pitchFamily="34" charset="0"/>
                <a:ea typeface="Arial" pitchFamily="34" charset="-122"/>
                <a:cs typeface="Arial" pitchFamily="34" charset="-120"/>
              </a:rPr>
              <a:t>Web Experimentation</a:t>
            </a:r>
            <a:endParaRPr lang="en-US" sz="1050" dirty="0"/>
          </a:p>
        </p:txBody>
      </p:sp>
      <p:sp>
        <p:nvSpPr>
          <p:cNvPr id="5" name="Text 3"/>
          <p:cNvSpPr/>
          <p:nvPr/>
        </p:nvSpPr>
        <p:spPr>
          <a:xfrm>
            <a:off x="7626096" y="1481328"/>
            <a:ext cx="1929384" cy="384048"/>
          </a:xfrm>
          <a:prstGeom prst="rect">
            <a:avLst/>
          </a:prstGeom>
          <a:noFill/>
          <a:ln/>
        </p:spPr>
        <p:txBody>
          <a:bodyPr wrap="square" lIns="0" tIns="0" rIns="0" bIns="0" rtlCol="0" anchor="ctr"/>
          <a:lstStyle/>
          <a:p>
            <a:pPr algn="ctr" indent="0" marL="0">
              <a:buNone/>
            </a:pPr>
            <a:r>
              <a:rPr lang="en-US" sz="1050" b="1" dirty="0">
                <a:solidFill>
                  <a:srgbClr val="FF6B6B"/>
                </a:solidFill>
                <a:latin typeface="Arial" pitchFamily="34" charset="0"/>
                <a:ea typeface="Arial" pitchFamily="34" charset="-122"/>
                <a:cs typeface="Arial" pitchFamily="34" charset="-120"/>
              </a:rPr>
              <a:t>+ Opal</a:t>
            </a:r>
            <a:endParaRPr lang="en-US" sz="1050" dirty="0"/>
          </a:p>
        </p:txBody>
      </p:sp>
      <p:sp>
        <p:nvSpPr>
          <p:cNvPr id="6" name="Text 4"/>
          <p:cNvSpPr/>
          <p:nvPr/>
        </p:nvSpPr>
        <p:spPr>
          <a:xfrm>
            <a:off x="9628632" y="1481328"/>
            <a:ext cx="1929384" cy="384048"/>
          </a:xfrm>
          <a:prstGeom prst="rect">
            <a:avLst/>
          </a:prstGeom>
          <a:noFill/>
          <a:ln/>
        </p:spPr>
        <p:txBody>
          <a:bodyPr wrap="square" lIns="0" tIns="0" rIns="0" bIns="0" rtlCol="0" anchor="ctr"/>
          <a:lstStyle/>
          <a:p>
            <a:pPr algn="ctr" indent="0" marL="0">
              <a:buNone/>
            </a:pPr>
            <a:r>
              <a:rPr lang="en-US" sz="1050" b="1" dirty="0">
                <a:solidFill>
                  <a:srgbClr val="2EE6A8"/>
                </a:solidFill>
                <a:latin typeface="Arial" pitchFamily="34" charset="0"/>
                <a:ea typeface="Arial" pitchFamily="34" charset="-122"/>
                <a:cs typeface="Arial" pitchFamily="34" charset="-120"/>
              </a:rPr>
              <a:t>+ The authoring layer</a:t>
            </a:r>
            <a:endParaRPr lang="en-US" sz="1050" dirty="0"/>
          </a:p>
        </p:txBody>
      </p:sp>
      <p:sp>
        <p:nvSpPr>
          <p:cNvPr id="7" name="Shape 5"/>
          <p:cNvSpPr/>
          <p:nvPr/>
        </p:nvSpPr>
        <p:spPr>
          <a:xfrm>
            <a:off x="475488" y="1888236"/>
            <a:ext cx="11237976" cy="306324"/>
          </a:xfrm>
          <a:prstGeom prst="roundRect">
            <a:avLst>
              <a:gd name="adj" fmla="val 26866"/>
            </a:avLst>
          </a:prstGeom>
          <a:solidFill>
            <a:srgbClr val="141D33"/>
          </a:solidFill>
          <a:ln w="12700">
            <a:solidFill>
              <a:srgbClr val="141D33"/>
            </a:solidFill>
            <a:prstDash val="solid"/>
          </a:ln>
        </p:spPr>
      </p:sp>
      <p:sp>
        <p:nvSpPr>
          <p:cNvPr id="8" name="Text 6"/>
          <p:cNvSpPr/>
          <p:nvPr/>
        </p:nvSpPr>
        <p:spPr>
          <a:xfrm>
            <a:off x="548640" y="1901952"/>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AI-assisted edits in the visual editor</a:t>
            </a:r>
            <a:endParaRPr lang="en-US" sz="1050" dirty="0"/>
          </a:p>
        </p:txBody>
      </p:sp>
      <p:sp>
        <p:nvSpPr>
          <p:cNvPr id="9" name="Text 7"/>
          <p:cNvSpPr/>
          <p:nvPr/>
        </p:nvSpPr>
        <p:spPr>
          <a:xfrm>
            <a:off x="5623560" y="1901952"/>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7626096" y="1901952"/>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11" name="Text 9"/>
          <p:cNvSpPr/>
          <p:nvPr/>
        </p:nvSpPr>
        <p:spPr>
          <a:xfrm>
            <a:off x="9628632" y="1901952"/>
            <a:ext cx="1929384" cy="306324"/>
          </a:xfrm>
          <a:prstGeom prst="rect">
            <a:avLst/>
          </a:prstGeom>
          <a:noFill/>
          <a:ln/>
        </p:spPr>
        <p:txBody>
          <a:bodyPr wrap="square" lIns="0" tIns="0" rIns="0" bIns="0" rtlCol="0" anchor="ctr"/>
          <a:lstStyle/>
          <a:p>
            <a:pPr algn="ctr" indent="0" marL="0">
              <a:buNone/>
            </a:pPr>
            <a:r>
              <a:rPr lang="en-US" sz="1100" b="1" dirty="0">
                <a:solidFill>
                  <a:srgbClr val="8CA0C4"/>
                </a:solidFill>
                <a:latin typeface="Arial" pitchFamily="34" charset="0"/>
                <a:ea typeface="Arial" pitchFamily="34" charset="-122"/>
                <a:cs typeface="Arial" pitchFamily="34" charset="-120"/>
              </a:rPr>
              <a:t>—</a:t>
            </a:r>
            <a:endParaRPr lang="en-US" sz="1100" dirty="0"/>
          </a:p>
        </p:txBody>
      </p:sp>
      <p:sp>
        <p:nvSpPr>
          <p:cNvPr id="12" name="Text 10"/>
          <p:cNvSpPr/>
          <p:nvPr/>
        </p:nvSpPr>
        <p:spPr>
          <a:xfrm>
            <a:off x="548640" y="2208276"/>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Variations beyond the editor (real code builds)</a:t>
            </a:r>
            <a:endParaRPr lang="en-US" sz="1050" dirty="0"/>
          </a:p>
        </p:txBody>
      </p:sp>
      <p:sp>
        <p:nvSpPr>
          <p:cNvPr id="13" name="Text 11"/>
          <p:cNvSpPr/>
          <p:nvPr/>
        </p:nvSpPr>
        <p:spPr>
          <a:xfrm>
            <a:off x="5623560" y="2208276"/>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7626096" y="2208276"/>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9628632" y="2208276"/>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16" name="Shape 14"/>
          <p:cNvSpPr/>
          <p:nvPr/>
        </p:nvSpPr>
        <p:spPr>
          <a:xfrm>
            <a:off x="475488" y="2500884"/>
            <a:ext cx="11237976" cy="306324"/>
          </a:xfrm>
          <a:prstGeom prst="roundRect">
            <a:avLst>
              <a:gd name="adj" fmla="val 26866"/>
            </a:avLst>
          </a:prstGeom>
          <a:solidFill>
            <a:srgbClr val="141D33"/>
          </a:solidFill>
          <a:ln w="12700">
            <a:solidFill>
              <a:srgbClr val="141D33"/>
            </a:solidFill>
            <a:prstDash val="solid"/>
          </a:ln>
        </p:spPr>
      </p:sp>
      <p:sp>
        <p:nvSpPr>
          <p:cNvPr id="17" name="Text 15"/>
          <p:cNvSpPr/>
          <p:nvPr/>
        </p:nvSpPr>
        <p:spPr>
          <a:xfrm>
            <a:off x="548640" y="2514600"/>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Agent/API access to variation code</a:t>
            </a:r>
            <a:endParaRPr lang="en-US" sz="1050" dirty="0"/>
          </a:p>
        </p:txBody>
      </p:sp>
      <p:sp>
        <p:nvSpPr>
          <p:cNvPr id="18" name="Text 16"/>
          <p:cNvSpPr/>
          <p:nvPr/>
        </p:nvSpPr>
        <p:spPr>
          <a:xfrm>
            <a:off x="5623560" y="2514600"/>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19" name="Text 17"/>
          <p:cNvSpPr/>
          <p:nvPr/>
        </p:nvSpPr>
        <p:spPr>
          <a:xfrm>
            <a:off x="7626096" y="2514600"/>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9628632" y="2514600"/>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21" name="Text 19"/>
          <p:cNvSpPr/>
          <p:nvPr/>
        </p:nvSpPr>
        <p:spPr>
          <a:xfrm>
            <a:off x="548640" y="2820924"/>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QA gate on custom code (certification)</a:t>
            </a:r>
            <a:endParaRPr lang="en-US" sz="1050" dirty="0"/>
          </a:p>
        </p:txBody>
      </p:sp>
      <p:sp>
        <p:nvSpPr>
          <p:cNvPr id="22" name="Text 20"/>
          <p:cNvSpPr/>
          <p:nvPr/>
        </p:nvSpPr>
        <p:spPr>
          <a:xfrm>
            <a:off x="5623560" y="2820924"/>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23" name="Text 21"/>
          <p:cNvSpPr/>
          <p:nvPr/>
        </p:nvSpPr>
        <p:spPr>
          <a:xfrm>
            <a:off x="7626096" y="2820924"/>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9628632" y="2820924"/>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25" name="Shape 23"/>
          <p:cNvSpPr/>
          <p:nvPr/>
        </p:nvSpPr>
        <p:spPr>
          <a:xfrm>
            <a:off x="475488" y="3113532"/>
            <a:ext cx="11237976" cy="306324"/>
          </a:xfrm>
          <a:prstGeom prst="roundRect">
            <a:avLst>
              <a:gd name="adj" fmla="val 26866"/>
            </a:avLst>
          </a:prstGeom>
          <a:solidFill>
            <a:srgbClr val="141D33"/>
          </a:solidFill>
          <a:ln w="12700">
            <a:solidFill>
              <a:srgbClr val="141D33"/>
            </a:solidFill>
            <a:prstDash val="solid"/>
          </a:ln>
        </p:spPr>
      </p:sp>
      <p:sp>
        <p:nvSpPr>
          <p:cNvPr id="26" name="Text 24"/>
          <p:cNvSpPr/>
          <p:nvPr/>
        </p:nvSpPr>
        <p:spPr>
          <a:xfrm>
            <a:off x="548640" y="3127248"/>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Tested under both injection timings</a:t>
            </a:r>
            <a:endParaRPr lang="en-US" sz="1050" dirty="0"/>
          </a:p>
        </p:txBody>
      </p:sp>
      <p:sp>
        <p:nvSpPr>
          <p:cNvPr id="27" name="Text 25"/>
          <p:cNvSpPr/>
          <p:nvPr/>
        </p:nvSpPr>
        <p:spPr>
          <a:xfrm>
            <a:off x="5623560" y="3127248"/>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7626096" y="3127248"/>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29" name="Text 27"/>
          <p:cNvSpPr/>
          <p:nvPr/>
        </p:nvSpPr>
        <p:spPr>
          <a:xfrm>
            <a:off x="9628632" y="3127248"/>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30" name="Text 28"/>
          <p:cNvSpPr/>
          <p:nvPr/>
        </p:nvSpPr>
        <p:spPr>
          <a:xfrm>
            <a:off x="548640" y="3433572"/>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Review on the real environment, pre-experiment</a:t>
            </a:r>
            <a:endParaRPr lang="en-US" sz="1050" dirty="0"/>
          </a:p>
        </p:txBody>
      </p:sp>
      <p:sp>
        <p:nvSpPr>
          <p:cNvPr id="31" name="Text 29"/>
          <p:cNvSpPr/>
          <p:nvPr/>
        </p:nvSpPr>
        <p:spPr>
          <a:xfrm>
            <a:off x="5623560" y="3433572"/>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32" name="Text 30"/>
          <p:cNvSpPr/>
          <p:nvPr/>
        </p:nvSpPr>
        <p:spPr>
          <a:xfrm>
            <a:off x="7626096" y="3433572"/>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33" name="Text 31"/>
          <p:cNvSpPr/>
          <p:nvPr/>
        </p:nvSpPr>
        <p:spPr>
          <a:xfrm>
            <a:off x="9628632" y="3433572"/>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34" name="Shape 32"/>
          <p:cNvSpPr/>
          <p:nvPr/>
        </p:nvSpPr>
        <p:spPr>
          <a:xfrm>
            <a:off x="475488" y="3726180"/>
            <a:ext cx="11237976" cy="306324"/>
          </a:xfrm>
          <a:prstGeom prst="roundRect">
            <a:avLst>
              <a:gd name="adj" fmla="val 26866"/>
            </a:avLst>
          </a:prstGeom>
          <a:solidFill>
            <a:srgbClr val="141D33"/>
          </a:solidFill>
          <a:ln w="12700">
            <a:solidFill>
              <a:srgbClr val="141D33"/>
            </a:solidFill>
            <a:prstDash val="solid"/>
          </a:ln>
        </p:spPr>
      </p:sp>
      <p:sp>
        <p:nvSpPr>
          <p:cNvPr id="35" name="Text 33"/>
          <p:cNvSpPr/>
          <p:nvPr/>
        </p:nvSpPr>
        <p:spPr>
          <a:xfrm>
            <a:off x="548640" y="3739896"/>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Git versioning + SHA provenance</a:t>
            </a:r>
            <a:endParaRPr lang="en-US" sz="1050" dirty="0"/>
          </a:p>
        </p:txBody>
      </p:sp>
      <p:sp>
        <p:nvSpPr>
          <p:cNvPr id="36" name="Text 34"/>
          <p:cNvSpPr/>
          <p:nvPr/>
        </p:nvSpPr>
        <p:spPr>
          <a:xfrm>
            <a:off x="5623560" y="3739896"/>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37" name="Text 35"/>
          <p:cNvSpPr/>
          <p:nvPr/>
        </p:nvSpPr>
        <p:spPr>
          <a:xfrm>
            <a:off x="7626096" y="3739896"/>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38" name="Text 36"/>
          <p:cNvSpPr/>
          <p:nvPr/>
        </p:nvSpPr>
        <p:spPr>
          <a:xfrm>
            <a:off x="9628632" y="3739896"/>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39" name="Text 37"/>
          <p:cNvSpPr/>
          <p:nvPr/>
        </p:nvSpPr>
        <p:spPr>
          <a:xfrm>
            <a:off x="548640" y="4046220"/>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Team collaboration on one variation</a:t>
            </a:r>
            <a:endParaRPr lang="en-US" sz="1050" dirty="0"/>
          </a:p>
        </p:txBody>
      </p:sp>
      <p:sp>
        <p:nvSpPr>
          <p:cNvPr id="40" name="Text 38"/>
          <p:cNvSpPr/>
          <p:nvPr/>
        </p:nvSpPr>
        <p:spPr>
          <a:xfrm>
            <a:off x="5623560" y="4046220"/>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41" name="Text 39"/>
          <p:cNvSpPr/>
          <p:nvPr/>
        </p:nvSpPr>
        <p:spPr>
          <a:xfrm>
            <a:off x="7626096" y="4046220"/>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42" name="Text 40"/>
          <p:cNvSpPr/>
          <p:nvPr/>
        </p:nvSpPr>
        <p:spPr>
          <a:xfrm>
            <a:off x="9628632" y="4046220"/>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475488" y="4338828"/>
            <a:ext cx="11237976" cy="306324"/>
          </a:xfrm>
          <a:prstGeom prst="roundRect">
            <a:avLst>
              <a:gd name="adj" fmla="val 26866"/>
            </a:avLst>
          </a:prstGeom>
          <a:solidFill>
            <a:srgbClr val="141D33"/>
          </a:solidFill>
          <a:ln w="12700">
            <a:solidFill>
              <a:srgbClr val="141D33"/>
            </a:solidFill>
            <a:prstDash val="solid"/>
          </a:ln>
        </p:spPr>
      </p:sp>
      <p:sp>
        <p:nvSpPr>
          <p:cNvPr id="44" name="Text 42"/>
          <p:cNvSpPr/>
          <p:nvPr/>
        </p:nvSpPr>
        <p:spPr>
          <a:xfrm>
            <a:off x="548640" y="4352544"/>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Knowledge that compounds across experiments</a:t>
            </a:r>
            <a:endParaRPr lang="en-US" sz="1050" dirty="0"/>
          </a:p>
        </p:txBody>
      </p:sp>
      <p:sp>
        <p:nvSpPr>
          <p:cNvPr id="45" name="Text 43"/>
          <p:cNvSpPr/>
          <p:nvPr/>
        </p:nvSpPr>
        <p:spPr>
          <a:xfrm>
            <a:off x="5623560" y="4352544"/>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46" name="Text 44"/>
          <p:cNvSpPr/>
          <p:nvPr/>
        </p:nvSpPr>
        <p:spPr>
          <a:xfrm>
            <a:off x="7626096" y="4352544"/>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47" name="Text 45"/>
          <p:cNvSpPr/>
          <p:nvPr/>
        </p:nvSpPr>
        <p:spPr>
          <a:xfrm>
            <a:off x="9628632" y="4352544"/>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548640" y="4658868"/>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Winner → production pull request</a:t>
            </a:r>
            <a:endParaRPr lang="en-US" sz="1050" dirty="0"/>
          </a:p>
        </p:txBody>
      </p:sp>
      <p:sp>
        <p:nvSpPr>
          <p:cNvPr id="49" name="Text 47"/>
          <p:cNvSpPr/>
          <p:nvPr/>
        </p:nvSpPr>
        <p:spPr>
          <a:xfrm>
            <a:off x="5623560" y="4658868"/>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50" name="Text 48"/>
          <p:cNvSpPr/>
          <p:nvPr/>
        </p:nvSpPr>
        <p:spPr>
          <a:xfrm>
            <a:off x="7626096" y="4658868"/>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51" name="Text 49"/>
          <p:cNvSpPr/>
          <p:nvPr/>
        </p:nvSpPr>
        <p:spPr>
          <a:xfrm>
            <a:off x="9628632" y="4658868"/>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52" name="Shape 50"/>
          <p:cNvSpPr/>
          <p:nvPr/>
        </p:nvSpPr>
        <p:spPr>
          <a:xfrm>
            <a:off x="475488" y="4951476"/>
            <a:ext cx="11237976" cy="306324"/>
          </a:xfrm>
          <a:prstGeom prst="roundRect">
            <a:avLst>
              <a:gd name="adj" fmla="val 26866"/>
            </a:avLst>
          </a:prstGeom>
          <a:solidFill>
            <a:srgbClr val="141D33"/>
          </a:solidFill>
          <a:ln w="12700">
            <a:solidFill>
              <a:srgbClr val="141D33"/>
            </a:solidFill>
            <a:prstDash val="solid"/>
          </a:ln>
        </p:spPr>
      </p:sp>
      <p:sp>
        <p:nvSpPr>
          <p:cNvPr id="53" name="Text 51"/>
          <p:cNvSpPr/>
          <p:nvPr/>
        </p:nvSpPr>
        <p:spPr>
          <a:xfrm>
            <a:off x="548640" y="4965192"/>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Program board w/ hypothesis + metrics + locks</a:t>
            </a:r>
            <a:endParaRPr lang="en-US" sz="1050" dirty="0"/>
          </a:p>
        </p:txBody>
      </p:sp>
      <p:sp>
        <p:nvSpPr>
          <p:cNvPr id="54" name="Text 52"/>
          <p:cNvSpPr/>
          <p:nvPr/>
        </p:nvSpPr>
        <p:spPr>
          <a:xfrm>
            <a:off x="5623560" y="4965192"/>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55" name="Text 53"/>
          <p:cNvSpPr/>
          <p:nvPr/>
        </p:nvSpPr>
        <p:spPr>
          <a:xfrm>
            <a:off x="7626096" y="4965192"/>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56" name="Text 54"/>
          <p:cNvSpPr/>
          <p:nvPr/>
        </p:nvSpPr>
        <p:spPr>
          <a:xfrm>
            <a:off x="9628632" y="4965192"/>
            <a:ext cx="1929384" cy="306324"/>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t>
            </a:r>
            <a:endParaRPr lang="en-US" sz="1300" dirty="0"/>
          </a:p>
        </p:txBody>
      </p:sp>
      <p:sp>
        <p:nvSpPr>
          <p:cNvPr id="57" name="Text 55"/>
          <p:cNvSpPr/>
          <p:nvPr/>
        </p:nvSpPr>
        <p:spPr>
          <a:xfrm>
            <a:off x="548640" y="5271516"/>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Pin + audit which model authored a change</a:t>
            </a:r>
            <a:endParaRPr lang="en-US" sz="1050" dirty="0"/>
          </a:p>
        </p:txBody>
      </p:sp>
      <p:sp>
        <p:nvSpPr>
          <p:cNvPr id="58" name="Text 56"/>
          <p:cNvSpPr/>
          <p:nvPr/>
        </p:nvSpPr>
        <p:spPr>
          <a:xfrm>
            <a:off x="5623560" y="5271516"/>
            <a:ext cx="1929384" cy="306324"/>
          </a:xfrm>
          <a:prstGeom prst="rect">
            <a:avLst/>
          </a:prstGeom>
          <a:noFill/>
          <a:ln/>
        </p:spPr>
        <p:txBody>
          <a:bodyPr wrap="square" lIns="0" tIns="0" rIns="0" bIns="0" rtlCol="0" anchor="ctr"/>
          <a:lstStyle/>
          <a:p>
            <a:pPr algn="ctr" indent="0" marL="0">
              <a:buNone/>
            </a:pPr>
            <a:r>
              <a:rPr lang="en-US" sz="1100" b="1" dirty="0">
                <a:solidFill>
                  <a:srgbClr val="8CA0C4"/>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7626096" y="5271516"/>
            <a:ext cx="1929384" cy="306324"/>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a:t>
            </a:r>
            <a:endParaRPr lang="en-US" sz="1300" dirty="0"/>
          </a:p>
        </p:txBody>
      </p:sp>
      <p:sp>
        <p:nvSpPr>
          <p:cNvPr id="60" name="Text 58"/>
          <p:cNvSpPr/>
          <p:nvPr/>
        </p:nvSpPr>
        <p:spPr>
          <a:xfrm>
            <a:off x="9628632" y="5271516"/>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61" name="Shape 59"/>
          <p:cNvSpPr/>
          <p:nvPr/>
        </p:nvSpPr>
        <p:spPr>
          <a:xfrm>
            <a:off x="475488" y="5564124"/>
            <a:ext cx="11237976" cy="306324"/>
          </a:xfrm>
          <a:prstGeom prst="roundRect">
            <a:avLst>
              <a:gd name="adj" fmla="val 26866"/>
            </a:avLst>
          </a:prstGeom>
          <a:solidFill>
            <a:srgbClr val="141D33"/>
          </a:solidFill>
          <a:ln w="12700">
            <a:solidFill>
              <a:srgbClr val="141D33"/>
            </a:solidFill>
            <a:prstDash val="solid"/>
          </a:ln>
        </p:spPr>
      </p:sp>
      <p:sp>
        <p:nvSpPr>
          <p:cNvPr id="62" name="Text 60"/>
          <p:cNvSpPr/>
          <p:nvPr/>
        </p:nvSpPr>
        <p:spPr>
          <a:xfrm>
            <a:off x="548640" y="5577840"/>
            <a:ext cx="4983480" cy="30632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Traffic splitting, stats, winner declaration</a:t>
            </a:r>
            <a:endParaRPr lang="en-US" sz="1050" dirty="0"/>
          </a:p>
        </p:txBody>
      </p:sp>
      <p:sp>
        <p:nvSpPr>
          <p:cNvPr id="63" name="Text 61"/>
          <p:cNvSpPr/>
          <p:nvPr/>
        </p:nvSpPr>
        <p:spPr>
          <a:xfrm>
            <a:off x="5623560" y="5577840"/>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64" name="Text 62"/>
          <p:cNvSpPr/>
          <p:nvPr/>
        </p:nvSpPr>
        <p:spPr>
          <a:xfrm>
            <a:off x="7626096" y="5577840"/>
            <a:ext cx="1929384" cy="306324"/>
          </a:xfrm>
          <a:prstGeom prst="rect">
            <a:avLst/>
          </a:prstGeom>
          <a:noFill/>
          <a:ln/>
        </p:spPr>
        <p:txBody>
          <a:bodyPr wrap="square" lIns="0" tIns="0" rIns="0" bIns="0" rtlCol="0" anchor="ctr"/>
          <a:lstStyle/>
          <a:p>
            <a:pPr algn="ctr" indent="0" marL="0">
              <a:buNone/>
            </a:pPr>
            <a:r>
              <a:rPr lang="en-US" sz="1300" b="1" dirty="0">
                <a:solidFill>
                  <a:srgbClr val="2EE6A8"/>
                </a:solidFill>
                <a:latin typeface="Arial" pitchFamily="34" charset="0"/>
                <a:ea typeface="Arial" pitchFamily="34" charset="-122"/>
                <a:cs typeface="Arial" pitchFamily="34" charset="-120"/>
              </a:rPr>
              <a:t>✓</a:t>
            </a:r>
            <a:endParaRPr lang="en-US" sz="1300" dirty="0"/>
          </a:p>
        </p:txBody>
      </p:sp>
      <p:sp>
        <p:nvSpPr>
          <p:cNvPr id="65" name="Text 63"/>
          <p:cNvSpPr/>
          <p:nvPr/>
        </p:nvSpPr>
        <p:spPr>
          <a:xfrm>
            <a:off x="9628632" y="5577840"/>
            <a:ext cx="1929384" cy="306324"/>
          </a:xfrm>
          <a:prstGeom prst="rect">
            <a:avLst/>
          </a:prstGeom>
          <a:noFill/>
          <a:ln/>
        </p:spPr>
        <p:txBody>
          <a:bodyPr wrap="square" lIns="0" tIns="0" rIns="0" bIns="0" rtlCol="0" anchor="ctr"/>
          <a:lstStyle/>
          <a:p>
            <a:pPr algn="ctr" indent="0" marL="0">
              <a:buNone/>
            </a:pPr>
            <a:r>
              <a:rPr lang="en-US" sz="1100" b="1" dirty="0">
                <a:solidFill>
                  <a:srgbClr val="8CA0C4"/>
                </a:solidFill>
                <a:latin typeface="Arial" pitchFamily="34" charset="0"/>
                <a:ea typeface="Arial" pitchFamily="34" charset="-122"/>
                <a:cs typeface="Arial" pitchFamily="34" charset="-120"/>
              </a:rPr>
              <a:t>—</a:t>
            </a:r>
            <a:endParaRPr lang="en-US" sz="1100" dirty="0"/>
          </a:p>
        </p:txBody>
      </p:sp>
      <p:sp>
        <p:nvSpPr>
          <p:cNvPr id="66" name="Text 64"/>
          <p:cNvSpPr/>
          <p:nvPr/>
        </p:nvSpPr>
        <p:spPr>
          <a:xfrm>
            <a:off x="548640" y="5993892"/>
            <a:ext cx="11091672" cy="320040"/>
          </a:xfrm>
          <a:prstGeom prst="rect">
            <a:avLst/>
          </a:prstGeom>
          <a:noFill/>
          <a:ln/>
        </p:spPr>
        <p:txBody>
          <a:bodyPr wrap="square" lIns="0" tIns="0" rIns="0" bIns="0" rtlCol="0" anchor="ctr"/>
          <a:lstStyle/>
          <a:p>
            <a:pPr indent="0" marL="0">
              <a:buNone/>
            </a:pPr>
            <a:r>
              <a:rPr lang="en-US" sz="1050" b="1" dirty="0">
                <a:solidFill>
                  <a:srgbClr val="2EE6A8"/>
                </a:solidFill>
                <a:latin typeface="Arial" pitchFamily="34" charset="0"/>
                <a:ea typeface="Arial" pitchFamily="34" charset="-122"/>
                <a:cs typeface="Arial" pitchFamily="34" charset="-120"/>
              </a:rPr>
              <a:t>✓ live today    </a:t>
            </a:r>
            <a:pPr indent="0" marL="0">
              <a:buNone/>
            </a:pPr>
            <a:r>
              <a:rPr lang="en-US" sz="1050" b="1" dirty="0">
                <a:solidFill>
                  <a:srgbClr val="FFC857"/>
                </a:solidFill>
                <a:latin typeface="Arial" pitchFamily="34" charset="0"/>
                <a:ea typeface="Arial" pitchFamily="34" charset="-122"/>
                <a:cs typeface="Arial" pitchFamily="34" charset="-120"/>
              </a:rPr>
              <a:t>◐ partial / in build    </a:t>
            </a:r>
            <a:pPr indent="0" marL="0">
              <a:buNone/>
            </a:pPr>
            <a:r>
              <a:rPr lang="en-US" sz="1050" b="1" dirty="0">
                <a:solidFill>
                  <a:srgbClr val="FF6B6B"/>
                </a:solidFill>
                <a:latin typeface="Arial" pitchFamily="34" charset="0"/>
                <a:ea typeface="Arial" pitchFamily="34" charset="-122"/>
                <a:cs typeface="Arial" pitchFamily="34" charset="-120"/>
              </a:rPr>
              <a:t>✗ absent or excluded by their docs    </a:t>
            </a:r>
            <a:pPr indent="0" marL="0">
              <a:buNone/>
            </a:pPr>
            <a:r>
              <a:rPr lang="en-US" sz="1050" dirty="0">
                <a:solidFill>
                  <a:srgbClr val="8CA0C4"/>
                </a:solidFill>
                <a:latin typeface="Arial" pitchFamily="34" charset="0"/>
                <a:ea typeface="Arial" pitchFamily="34" charset="-122"/>
                <a:cs typeface="Arial" pitchFamily="34" charset="-120"/>
              </a:rPr>
              <a:t>— not its job (we plug into the platform; it runs the test)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2EE6A8"/>
                </a:solidFill>
                <a:latin typeface="Arial" pitchFamily="34" charset="0"/>
                <a:ea typeface="Arial" pitchFamily="34" charset="-122"/>
                <a:cs typeface="Arial" pitchFamily="34" charset="-120"/>
              </a:rPr>
              <a:t>THE ANSWER</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enterprises actually need — and where it exists</a:t>
            </a:r>
            <a:endParaRPr lang="en-US" sz="3000" dirty="0"/>
          </a:p>
        </p:txBody>
      </p:sp>
      <p:sp>
        <p:nvSpPr>
          <p:cNvPr id="4" name="Shape 2"/>
          <p:cNvSpPr/>
          <p:nvPr/>
        </p:nvSpPr>
        <p:spPr>
          <a:xfrm>
            <a:off x="548640" y="1645920"/>
            <a:ext cx="3621024" cy="1371600"/>
          </a:xfrm>
          <a:prstGeom prst="roundRect">
            <a:avLst>
              <a:gd name="adj" fmla="val 6000"/>
            </a:avLst>
          </a:prstGeom>
          <a:solidFill>
            <a:srgbClr val="18233B"/>
          </a:solidFill>
          <a:ln w="12700">
            <a:solidFill>
              <a:srgbClr val="18233B"/>
            </a:solidFill>
            <a:prstDash val="solid"/>
          </a:ln>
        </p:spPr>
      </p:sp>
      <p:sp>
        <p:nvSpPr>
          <p:cNvPr id="5" name="Shape 3"/>
          <p:cNvSpPr/>
          <p:nvPr/>
        </p:nvSpPr>
        <p:spPr>
          <a:xfrm>
            <a:off x="731520" y="1828800"/>
            <a:ext cx="402336" cy="402336"/>
          </a:xfrm>
          <a:prstGeom prst="ellipse">
            <a:avLst/>
          </a:prstGeom>
          <a:solidFill>
            <a:srgbClr val="2EE6A8"/>
          </a:solidFill>
          <a:ln/>
        </p:spPr>
      </p:sp>
      <p:pic>
        <p:nvPicPr>
          <p:cNvPr id="6" name="Image 0" descr="/private/tmp/claude-501/-Users-bryanhopkins-AIChat-resort-ai-chatbot/485380a5-5fbc-481a-aba5-950dd47c1f1d/scratchpad/deck/icons/code-white.png">    </p:cNvPr>
          <p:cNvPicPr>
            <a:picLocks noChangeAspect="1"/>
          </p:cNvPicPr>
          <p:nvPr/>
        </p:nvPicPr>
        <p:blipFill>
          <a:blip r:embed="rId1"/>
          <a:stretch>
            <a:fillRect/>
          </a:stretch>
        </p:blipFill>
        <p:spPr>
          <a:xfrm>
            <a:off x="822046" y="1919326"/>
            <a:ext cx="221285" cy="221285"/>
          </a:xfrm>
          <a:prstGeom prst="rect">
            <a:avLst/>
          </a:prstGeom>
        </p:spPr>
      </p:pic>
      <p:sp>
        <p:nvSpPr>
          <p:cNvPr id="7" name="Text 4"/>
          <p:cNvSpPr/>
          <p:nvPr/>
        </p:nvSpPr>
        <p:spPr>
          <a:xfrm>
            <a:off x="1261872" y="179222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Author anything</a:t>
            </a:r>
            <a:endParaRPr lang="en-US" sz="1450" dirty="0"/>
          </a:p>
        </p:txBody>
      </p:sp>
      <p:sp>
        <p:nvSpPr>
          <p:cNvPr id="8" name="Shape 5"/>
          <p:cNvSpPr/>
          <p:nvPr/>
        </p:nvSpPr>
        <p:spPr>
          <a:xfrm>
            <a:off x="3054096" y="1810512"/>
            <a:ext cx="969264" cy="256032"/>
          </a:xfrm>
          <a:prstGeom prst="roundRect">
            <a:avLst>
              <a:gd name="adj" fmla="val 32143"/>
            </a:avLst>
          </a:prstGeom>
          <a:solidFill>
            <a:srgbClr val="202E4E"/>
          </a:solidFill>
          <a:ln w="12700">
            <a:solidFill>
              <a:srgbClr val="2EE6A8"/>
            </a:solidFill>
            <a:prstDash val="solid"/>
          </a:ln>
        </p:spPr>
      </p:sp>
      <p:sp>
        <p:nvSpPr>
          <p:cNvPr id="9" name="Text 6"/>
          <p:cNvSpPr/>
          <p:nvPr/>
        </p:nvSpPr>
        <p:spPr>
          <a:xfrm>
            <a:off x="3054096" y="1810512"/>
            <a:ext cx="969264" cy="256032"/>
          </a:xfrm>
          <a:prstGeom prst="rect">
            <a:avLst/>
          </a:prstGeom>
          <a:noFill/>
          <a:ln/>
        </p:spPr>
        <p:txBody>
          <a:bodyPr wrap="square" lIns="0" tIns="0" rIns="0" bIns="0" rtlCol="0" anchor="ctr"/>
          <a:lstStyle/>
          <a:p>
            <a:pPr algn="ctr" indent="0" marL="0">
              <a:buNone/>
            </a:pPr>
            <a:r>
              <a:rPr lang="en-US" sz="750" b="1" spc="100" kern="0" dirty="0">
                <a:solidFill>
                  <a:srgbClr val="2EE6A8"/>
                </a:solidFill>
                <a:latin typeface="Arial" pitchFamily="34" charset="0"/>
                <a:ea typeface="Arial" pitchFamily="34" charset="-122"/>
                <a:cs typeface="Arial" pitchFamily="34" charset="-120"/>
              </a:rPr>
              <a:t>LIVE TODAY</a:t>
            </a:r>
            <a:endParaRPr lang="en-US" sz="750" dirty="0"/>
          </a:p>
        </p:txBody>
      </p:sp>
      <p:sp>
        <p:nvSpPr>
          <p:cNvPr id="10" name="Text 7"/>
          <p:cNvSpPr/>
          <p:nvPr/>
        </p:nvSpPr>
        <p:spPr>
          <a:xfrm>
            <a:off x="1261872" y="215798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Real code, real repo, agent-built — beyond any editor ceiling</a:t>
            </a:r>
            <a:endParaRPr lang="en-US" sz="1100" dirty="0"/>
          </a:p>
        </p:txBody>
      </p:sp>
      <p:sp>
        <p:nvSpPr>
          <p:cNvPr id="11" name="Shape 8"/>
          <p:cNvSpPr/>
          <p:nvPr/>
        </p:nvSpPr>
        <p:spPr>
          <a:xfrm>
            <a:off x="4283964" y="1645920"/>
            <a:ext cx="3621024" cy="1371600"/>
          </a:xfrm>
          <a:prstGeom prst="roundRect">
            <a:avLst>
              <a:gd name="adj" fmla="val 6000"/>
            </a:avLst>
          </a:prstGeom>
          <a:solidFill>
            <a:srgbClr val="18233B"/>
          </a:solidFill>
          <a:ln w="12700">
            <a:solidFill>
              <a:srgbClr val="18233B"/>
            </a:solidFill>
            <a:prstDash val="solid"/>
          </a:ln>
        </p:spPr>
      </p:sp>
      <p:sp>
        <p:nvSpPr>
          <p:cNvPr id="12" name="Shape 9"/>
          <p:cNvSpPr/>
          <p:nvPr/>
        </p:nvSpPr>
        <p:spPr>
          <a:xfrm>
            <a:off x="4466844" y="1828800"/>
            <a:ext cx="402336" cy="402336"/>
          </a:xfrm>
          <a:prstGeom prst="ellipse">
            <a:avLst/>
          </a:prstGeom>
          <a:solidFill>
            <a:srgbClr val="2EE6A8"/>
          </a:solidFill>
          <a:ln/>
        </p:spPr>
      </p:sp>
      <p:pic>
        <p:nvPicPr>
          <p:cNvPr id="13" name="Image 1" descr="/private/tmp/claude-501/-Users-bryanhopkins-AIChat-resort-ai-chatbot/485380a5-5fbc-481a-aba5-950dd47c1f1d/scratchpad/deck/icons/eye-white.png">    </p:cNvPr>
          <p:cNvPicPr>
            <a:picLocks noChangeAspect="1"/>
          </p:cNvPicPr>
          <p:nvPr/>
        </p:nvPicPr>
        <p:blipFill>
          <a:blip r:embed="rId2"/>
          <a:stretch>
            <a:fillRect/>
          </a:stretch>
        </p:blipFill>
        <p:spPr>
          <a:xfrm>
            <a:off x="4557370" y="1919326"/>
            <a:ext cx="221285" cy="221285"/>
          </a:xfrm>
          <a:prstGeom prst="rect">
            <a:avLst/>
          </a:prstGeom>
        </p:spPr>
      </p:pic>
      <p:sp>
        <p:nvSpPr>
          <p:cNvPr id="14" name="Text 10"/>
          <p:cNvSpPr/>
          <p:nvPr/>
        </p:nvSpPr>
        <p:spPr>
          <a:xfrm>
            <a:off x="4997196" y="179222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Review on truth</a:t>
            </a:r>
            <a:endParaRPr lang="en-US" sz="1450" dirty="0"/>
          </a:p>
        </p:txBody>
      </p:sp>
      <p:sp>
        <p:nvSpPr>
          <p:cNvPr id="15" name="Shape 11"/>
          <p:cNvSpPr/>
          <p:nvPr/>
        </p:nvSpPr>
        <p:spPr>
          <a:xfrm>
            <a:off x="6789420" y="1810512"/>
            <a:ext cx="969264" cy="256032"/>
          </a:xfrm>
          <a:prstGeom prst="roundRect">
            <a:avLst>
              <a:gd name="adj" fmla="val 32143"/>
            </a:avLst>
          </a:prstGeom>
          <a:solidFill>
            <a:srgbClr val="202E4E"/>
          </a:solidFill>
          <a:ln w="12700">
            <a:solidFill>
              <a:srgbClr val="2EE6A8"/>
            </a:solidFill>
            <a:prstDash val="solid"/>
          </a:ln>
        </p:spPr>
      </p:sp>
      <p:sp>
        <p:nvSpPr>
          <p:cNvPr id="16" name="Text 12"/>
          <p:cNvSpPr/>
          <p:nvPr/>
        </p:nvSpPr>
        <p:spPr>
          <a:xfrm>
            <a:off x="6789420" y="1810512"/>
            <a:ext cx="969264" cy="256032"/>
          </a:xfrm>
          <a:prstGeom prst="rect">
            <a:avLst/>
          </a:prstGeom>
          <a:noFill/>
          <a:ln/>
        </p:spPr>
        <p:txBody>
          <a:bodyPr wrap="square" lIns="0" tIns="0" rIns="0" bIns="0" rtlCol="0" anchor="ctr"/>
          <a:lstStyle/>
          <a:p>
            <a:pPr algn="ctr" indent="0" marL="0">
              <a:buNone/>
            </a:pPr>
            <a:r>
              <a:rPr lang="en-US" sz="750" b="1" spc="100" kern="0" dirty="0">
                <a:solidFill>
                  <a:srgbClr val="2EE6A8"/>
                </a:solidFill>
                <a:latin typeface="Arial" pitchFamily="34" charset="0"/>
                <a:ea typeface="Arial" pitchFamily="34" charset="-122"/>
                <a:cs typeface="Arial" pitchFamily="34" charset="-120"/>
              </a:rPr>
              <a:t>LIVE TODAY</a:t>
            </a:r>
            <a:endParaRPr lang="en-US" sz="750" dirty="0"/>
          </a:p>
        </p:txBody>
      </p:sp>
      <p:sp>
        <p:nvSpPr>
          <p:cNvPr id="17" name="Text 13"/>
          <p:cNvSpPr/>
          <p:nvPr/>
        </p:nvSpPr>
        <p:spPr>
          <a:xfrm>
            <a:off x="4997196" y="215798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The real environment, before any experiment exists</a:t>
            </a:r>
            <a:endParaRPr lang="en-US" sz="1100" dirty="0"/>
          </a:p>
        </p:txBody>
      </p:sp>
      <p:sp>
        <p:nvSpPr>
          <p:cNvPr id="18" name="Shape 14"/>
          <p:cNvSpPr/>
          <p:nvPr/>
        </p:nvSpPr>
        <p:spPr>
          <a:xfrm>
            <a:off x="8019288" y="1645920"/>
            <a:ext cx="3621024" cy="1371600"/>
          </a:xfrm>
          <a:prstGeom prst="roundRect">
            <a:avLst>
              <a:gd name="adj" fmla="val 6000"/>
            </a:avLst>
          </a:prstGeom>
          <a:solidFill>
            <a:srgbClr val="18233B"/>
          </a:solidFill>
          <a:ln w="12700">
            <a:solidFill>
              <a:srgbClr val="18233B"/>
            </a:solidFill>
            <a:prstDash val="solid"/>
          </a:ln>
        </p:spPr>
      </p:sp>
      <p:sp>
        <p:nvSpPr>
          <p:cNvPr id="19" name="Shape 15"/>
          <p:cNvSpPr/>
          <p:nvPr/>
        </p:nvSpPr>
        <p:spPr>
          <a:xfrm>
            <a:off x="8202168" y="1828800"/>
            <a:ext cx="402336" cy="402336"/>
          </a:xfrm>
          <a:prstGeom prst="ellipse">
            <a:avLst/>
          </a:prstGeom>
          <a:solidFill>
            <a:srgbClr val="4D8DFF"/>
          </a:solidFill>
          <a:ln/>
        </p:spPr>
      </p:sp>
      <p:pic>
        <p:nvPicPr>
          <p:cNvPr id="20" name="Image 2" descr="/private/tmp/claude-501/-Users-bryanhopkins-AIChat-resort-ai-chatbot/485380a5-5fbc-481a-aba5-950dd47c1f1d/scratchpad/deck/icons/shield-white.png">    </p:cNvPr>
          <p:cNvPicPr>
            <a:picLocks noChangeAspect="1"/>
          </p:cNvPicPr>
          <p:nvPr/>
        </p:nvPicPr>
        <p:blipFill>
          <a:blip r:embed="rId3"/>
          <a:stretch>
            <a:fillRect/>
          </a:stretch>
        </p:blipFill>
        <p:spPr>
          <a:xfrm>
            <a:off x="8292694" y="1919326"/>
            <a:ext cx="221285" cy="221285"/>
          </a:xfrm>
          <a:prstGeom prst="rect">
            <a:avLst/>
          </a:prstGeom>
        </p:spPr>
      </p:pic>
      <p:sp>
        <p:nvSpPr>
          <p:cNvPr id="21" name="Text 16"/>
          <p:cNvSpPr/>
          <p:nvPr/>
        </p:nvSpPr>
        <p:spPr>
          <a:xfrm>
            <a:off x="8732520" y="179222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Certify every ship</a:t>
            </a:r>
            <a:endParaRPr lang="en-US" sz="1450" dirty="0"/>
          </a:p>
        </p:txBody>
      </p:sp>
      <p:sp>
        <p:nvSpPr>
          <p:cNvPr id="22" name="Shape 17"/>
          <p:cNvSpPr/>
          <p:nvPr/>
        </p:nvSpPr>
        <p:spPr>
          <a:xfrm>
            <a:off x="10524744" y="1810512"/>
            <a:ext cx="969264" cy="256032"/>
          </a:xfrm>
          <a:prstGeom prst="roundRect">
            <a:avLst>
              <a:gd name="adj" fmla="val 32143"/>
            </a:avLst>
          </a:prstGeom>
          <a:solidFill>
            <a:srgbClr val="202E4E"/>
          </a:solidFill>
          <a:ln w="12700">
            <a:solidFill>
              <a:srgbClr val="4D8DFF"/>
            </a:solidFill>
            <a:prstDash val="solid"/>
          </a:ln>
        </p:spPr>
      </p:sp>
      <p:sp>
        <p:nvSpPr>
          <p:cNvPr id="23" name="Text 18"/>
          <p:cNvSpPr/>
          <p:nvPr/>
        </p:nvSpPr>
        <p:spPr>
          <a:xfrm>
            <a:off x="10524744" y="1810512"/>
            <a:ext cx="969264" cy="256032"/>
          </a:xfrm>
          <a:prstGeom prst="rect">
            <a:avLst/>
          </a:prstGeom>
          <a:noFill/>
          <a:ln/>
        </p:spPr>
        <p:txBody>
          <a:bodyPr wrap="square" lIns="0" tIns="0" rIns="0" bIns="0" rtlCol="0" anchor="ctr"/>
          <a:lstStyle/>
          <a:p>
            <a:pPr algn="ctr" indent="0" marL="0">
              <a:buNone/>
            </a:pPr>
            <a:r>
              <a:rPr lang="en-US" sz="750" b="1" spc="100" kern="0" dirty="0">
                <a:solidFill>
                  <a:srgbClr val="4D8DFF"/>
                </a:solidFill>
                <a:latin typeface="Arial" pitchFamily="34" charset="0"/>
                <a:ea typeface="Arial" pitchFamily="34" charset="-122"/>
                <a:cs typeface="Arial" pitchFamily="34" charset="-120"/>
              </a:rPr>
              <a:t>PHASE 1</a:t>
            </a:r>
            <a:endParaRPr lang="en-US" sz="750" dirty="0"/>
          </a:p>
        </p:txBody>
      </p:sp>
      <p:sp>
        <p:nvSpPr>
          <p:cNvPr id="24" name="Text 19"/>
          <p:cNvSpPr/>
          <p:nvPr/>
        </p:nvSpPr>
        <p:spPr>
          <a:xfrm>
            <a:off x="8732520" y="215798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The QA gate for the failure modes nobody predicts</a:t>
            </a:r>
            <a:endParaRPr lang="en-US" sz="1100" dirty="0"/>
          </a:p>
        </p:txBody>
      </p:sp>
      <p:sp>
        <p:nvSpPr>
          <p:cNvPr id="25" name="Shape 20"/>
          <p:cNvSpPr/>
          <p:nvPr/>
        </p:nvSpPr>
        <p:spPr>
          <a:xfrm>
            <a:off x="548640" y="3154680"/>
            <a:ext cx="3621024" cy="1371600"/>
          </a:xfrm>
          <a:prstGeom prst="roundRect">
            <a:avLst>
              <a:gd name="adj" fmla="val 6000"/>
            </a:avLst>
          </a:prstGeom>
          <a:solidFill>
            <a:srgbClr val="18233B"/>
          </a:solidFill>
          <a:ln w="12700">
            <a:solidFill>
              <a:srgbClr val="18233B"/>
            </a:solidFill>
            <a:prstDash val="solid"/>
          </a:ln>
        </p:spPr>
      </p:sp>
      <p:sp>
        <p:nvSpPr>
          <p:cNvPr id="26" name="Shape 21"/>
          <p:cNvSpPr/>
          <p:nvPr/>
        </p:nvSpPr>
        <p:spPr>
          <a:xfrm>
            <a:off x="731520" y="3337560"/>
            <a:ext cx="402336" cy="402336"/>
          </a:xfrm>
          <a:prstGeom prst="ellipse">
            <a:avLst/>
          </a:prstGeom>
          <a:solidFill>
            <a:srgbClr val="2EE6A8"/>
          </a:solidFill>
          <a:ln/>
        </p:spPr>
      </p:sp>
      <p:pic>
        <p:nvPicPr>
          <p:cNvPr id="27" name="Image 3" descr="/private/tmp/claude-501/-Users-bryanhopkins-AIChat-resort-ai-chatbot/485380a5-5fbc-481a-aba5-950dd47c1f1d/scratchpad/deck/icons/branch-white.png">    </p:cNvPr>
          <p:cNvPicPr>
            <a:picLocks noChangeAspect="1"/>
          </p:cNvPicPr>
          <p:nvPr/>
        </p:nvPicPr>
        <p:blipFill>
          <a:blip r:embed="rId4"/>
          <a:stretch>
            <a:fillRect/>
          </a:stretch>
        </p:blipFill>
        <p:spPr>
          <a:xfrm>
            <a:off x="822046" y="3428086"/>
            <a:ext cx="221285" cy="221285"/>
          </a:xfrm>
          <a:prstGeom prst="rect">
            <a:avLst/>
          </a:prstGeom>
        </p:spPr>
      </p:pic>
      <p:sp>
        <p:nvSpPr>
          <p:cNvPr id="28" name="Text 22"/>
          <p:cNvSpPr/>
          <p:nvPr/>
        </p:nvSpPr>
        <p:spPr>
          <a:xfrm>
            <a:off x="1261872" y="330098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Own the history</a:t>
            </a:r>
            <a:endParaRPr lang="en-US" sz="1450" dirty="0"/>
          </a:p>
        </p:txBody>
      </p:sp>
      <p:sp>
        <p:nvSpPr>
          <p:cNvPr id="29" name="Shape 23"/>
          <p:cNvSpPr/>
          <p:nvPr/>
        </p:nvSpPr>
        <p:spPr>
          <a:xfrm>
            <a:off x="3054096" y="3319272"/>
            <a:ext cx="969264" cy="256032"/>
          </a:xfrm>
          <a:prstGeom prst="roundRect">
            <a:avLst>
              <a:gd name="adj" fmla="val 32143"/>
            </a:avLst>
          </a:prstGeom>
          <a:solidFill>
            <a:srgbClr val="202E4E"/>
          </a:solidFill>
          <a:ln w="12700">
            <a:solidFill>
              <a:srgbClr val="2EE6A8"/>
            </a:solidFill>
            <a:prstDash val="solid"/>
          </a:ln>
        </p:spPr>
      </p:sp>
      <p:sp>
        <p:nvSpPr>
          <p:cNvPr id="30" name="Text 24"/>
          <p:cNvSpPr/>
          <p:nvPr/>
        </p:nvSpPr>
        <p:spPr>
          <a:xfrm>
            <a:off x="3054096" y="3319272"/>
            <a:ext cx="969264" cy="256032"/>
          </a:xfrm>
          <a:prstGeom prst="rect">
            <a:avLst/>
          </a:prstGeom>
          <a:noFill/>
          <a:ln/>
        </p:spPr>
        <p:txBody>
          <a:bodyPr wrap="square" lIns="0" tIns="0" rIns="0" bIns="0" rtlCol="0" anchor="ctr"/>
          <a:lstStyle/>
          <a:p>
            <a:pPr algn="ctr" indent="0" marL="0">
              <a:buNone/>
            </a:pPr>
            <a:r>
              <a:rPr lang="en-US" sz="750" b="1" spc="100" kern="0" dirty="0">
                <a:solidFill>
                  <a:srgbClr val="2EE6A8"/>
                </a:solidFill>
                <a:latin typeface="Arial" pitchFamily="34" charset="0"/>
                <a:ea typeface="Arial" pitchFamily="34" charset="-122"/>
                <a:cs typeface="Arial" pitchFamily="34" charset="-120"/>
              </a:rPr>
              <a:t>LIVE TODAY</a:t>
            </a:r>
            <a:endParaRPr lang="en-US" sz="750" dirty="0"/>
          </a:p>
        </p:txBody>
      </p:sp>
      <p:sp>
        <p:nvSpPr>
          <p:cNvPr id="31" name="Text 25"/>
          <p:cNvSpPr/>
          <p:nvPr/>
        </p:nvSpPr>
        <p:spPr>
          <a:xfrm>
            <a:off x="1261872" y="366674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Git-native provenance: what ran, when, from which commit</a:t>
            </a:r>
            <a:endParaRPr lang="en-US" sz="1100" dirty="0"/>
          </a:p>
        </p:txBody>
      </p:sp>
      <p:sp>
        <p:nvSpPr>
          <p:cNvPr id="32" name="Shape 26"/>
          <p:cNvSpPr/>
          <p:nvPr/>
        </p:nvSpPr>
        <p:spPr>
          <a:xfrm>
            <a:off x="4283964" y="3154680"/>
            <a:ext cx="3621024" cy="1371600"/>
          </a:xfrm>
          <a:prstGeom prst="roundRect">
            <a:avLst>
              <a:gd name="adj" fmla="val 6000"/>
            </a:avLst>
          </a:prstGeom>
          <a:solidFill>
            <a:srgbClr val="18233B"/>
          </a:solidFill>
          <a:ln w="12700">
            <a:solidFill>
              <a:srgbClr val="18233B"/>
            </a:solidFill>
            <a:prstDash val="solid"/>
          </a:ln>
        </p:spPr>
      </p:sp>
      <p:sp>
        <p:nvSpPr>
          <p:cNvPr id="33" name="Shape 27"/>
          <p:cNvSpPr/>
          <p:nvPr/>
        </p:nvSpPr>
        <p:spPr>
          <a:xfrm>
            <a:off x="4466844" y="3337560"/>
            <a:ext cx="402336" cy="402336"/>
          </a:xfrm>
          <a:prstGeom prst="ellipse">
            <a:avLst/>
          </a:prstGeom>
          <a:solidFill>
            <a:srgbClr val="4D8DFF"/>
          </a:solidFill>
          <a:ln/>
        </p:spPr>
      </p:sp>
      <p:pic>
        <p:nvPicPr>
          <p:cNvPr id="34" name="Image 4" descr="/private/tmp/claude-501/-Users-bryanhopkins-AIChat-resort-ai-chatbot/485380a5-5fbc-481a-aba5-950dd47c1f1d/scratchpad/deck/icons/users-white.png">    </p:cNvPr>
          <p:cNvPicPr>
            <a:picLocks noChangeAspect="1"/>
          </p:cNvPicPr>
          <p:nvPr/>
        </p:nvPicPr>
        <p:blipFill>
          <a:blip r:embed="rId5"/>
          <a:stretch>
            <a:fillRect/>
          </a:stretch>
        </p:blipFill>
        <p:spPr>
          <a:xfrm>
            <a:off x="4557370" y="3428086"/>
            <a:ext cx="221285" cy="221285"/>
          </a:xfrm>
          <a:prstGeom prst="rect">
            <a:avLst/>
          </a:prstGeom>
        </p:spPr>
      </p:pic>
      <p:sp>
        <p:nvSpPr>
          <p:cNvPr id="35" name="Text 28"/>
          <p:cNvSpPr/>
          <p:nvPr/>
        </p:nvSpPr>
        <p:spPr>
          <a:xfrm>
            <a:off x="4997196" y="330098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Build as a team</a:t>
            </a:r>
            <a:endParaRPr lang="en-US" sz="1450" dirty="0"/>
          </a:p>
        </p:txBody>
      </p:sp>
      <p:sp>
        <p:nvSpPr>
          <p:cNvPr id="36" name="Shape 29"/>
          <p:cNvSpPr/>
          <p:nvPr/>
        </p:nvSpPr>
        <p:spPr>
          <a:xfrm>
            <a:off x="6789420" y="3319272"/>
            <a:ext cx="969264" cy="256032"/>
          </a:xfrm>
          <a:prstGeom prst="roundRect">
            <a:avLst>
              <a:gd name="adj" fmla="val 32143"/>
            </a:avLst>
          </a:prstGeom>
          <a:solidFill>
            <a:srgbClr val="202E4E"/>
          </a:solidFill>
          <a:ln w="12700">
            <a:solidFill>
              <a:srgbClr val="4D8DFF"/>
            </a:solidFill>
            <a:prstDash val="solid"/>
          </a:ln>
        </p:spPr>
      </p:sp>
      <p:sp>
        <p:nvSpPr>
          <p:cNvPr id="37" name="Text 30"/>
          <p:cNvSpPr/>
          <p:nvPr/>
        </p:nvSpPr>
        <p:spPr>
          <a:xfrm>
            <a:off x="6789420" y="3319272"/>
            <a:ext cx="969264" cy="256032"/>
          </a:xfrm>
          <a:prstGeom prst="rect">
            <a:avLst/>
          </a:prstGeom>
          <a:noFill/>
          <a:ln/>
        </p:spPr>
        <p:txBody>
          <a:bodyPr wrap="square" lIns="0" tIns="0" rIns="0" bIns="0" rtlCol="0" anchor="ctr"/>
          <a:lstStyle/>
          <a:p>
            <a:pPr algn="ctr" indent="0" marL="0">
              <a:buNone/>
            </a:pPr>
            <a:r>
              <a:rPr lang="en-US" sz="750" b="1" spc="100" kern="0" dirty="0">
                <a:solidFill>
                  <a:srgbClr val="4D8DFF"/>
                </a:solidFill>
                <a:latin typeface="Arial" pitchFamily="34" charset="0"/>
                <a:ea typeface="Arial" pitchFamily="34" charset="-122"/>
                <a:cs typeface="Arial" pitchFamily="34" charset="-120"/>
              </a:rPr>
              <a:t>PHASE 2</a:t>
            </a:r>
            <a:endParaRPr lang="en-US" sz="750" dirty="0"/>
          </a:p>
        </p:txBody>
      </p:sp>
      <p:sp>
        <p:nvSpPr>
          <p:cNvPr id="38" name="Text 31"/>
          <p:cNvSpPr/>
          <p:nvPr/>
        </p:nvSpPr>
        <p:spPr>
          <a:xfrm>
            <a:off x="4997196" y="366674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Branches, sign-offs, a program board over ground truth</a:t>
            </a:r>
            <a:endParaRPr lang="en-US" sz="1100" dirty="0"/>
          </a:p>
        </p:txBody>
      </p:sp>
      <p:sp>
        <p:nvSpPr>
          <p:cNvPr id="39" name="Shape 32"/>
          <p:cNvSpPr/>
          <p:nvPr/>
        </p:nvSpPr>
        <p:spPr>
          <a:xfrm>
            <a:off x="8019288" y="3154680"/>
            <a:ext cx="3621024" cy="1371600"/>
          </a:xfrm>
          <a:prstGeom prst="roundRect">
            <a:avLst>
              <a:gd name="adj" fmla="val 6000"/>
            </a:avLst>
          </a:prstGeom>
          <a:solidFill>
            <a:srgbClr val="18233B"/>
          </a:solidFill>
          <a:ln w="12700">
            <a:solidFill>
              <a:srgbClr val="18233B"/>
            </a:solidFill>
            <a:prstDash val="solid"/>
          </a:ln>
        </p:spPr>
      </p:sp>
      <p:sp>
        <p:nvSpPr>
          <p:cNvPr id="40" name="Shape 33"/>
          <p:cNvSpPr/>
          <p:nvPr/>
        </p:nvSpPr>
        <p:spPr>
          <a:xfrm>
            <a:off x="8202168" y="3337560"/>
            <a:ext cx="402336" cy="402336"/>
          </a:xfrm>
          <a:prstGeom prst="ellipse">
            <a:avLst/>
          </a:prstGeom>
          <a:solidFill>
            <a:srgbClr val="4D8DFF"/>
          </a:solidFill>
          <a:ln/>
        </p:spPr>
      </p:sp>
      <p:pic>
        <p:nvPicPr>
          <p:cNvPr id="41" name="Image 5" descr="/private/tmp/claude-501/-Users-bryanhopkins-AIChat-resort-ai-chatbot/485380a5-5fbc-481a-aba5-950dd47c1f1d/scratchpad/deck/icons/pr-white.png">    </p:cNvPr>
          <p:cNvPicPr>
            <a:picLocks noChangeAspect="1"/>
          </p:cNvPicPr>
          <p:nvPr/>
        </p:nvPicPr>
        <p:blipFill>
          <a:blip r:embed="rId6"/>
          <a:stretch>
            <a:fillRect/>
          </a:stretch>
        </p:blipFill>
        <p:spPr>
          <a:xfrm>
            <a:off x="8292694" y="3428086"/>
            <a:ext cx="221285" cy="221285"/>
          </a:xfrm>
          <a:prstGeom prst="rect">
            <a:avLst/>
          </a:prstGeom>
        </p:spPr>
      </p:pic>
      <p:sp>
        <p:nvSpPr>
          <p:cNvPr id="42" name="Text 34"/>
          <p:cNvSpPr/>
          <p:nvPr/>
        </p:nvSpPr>
        <p:spPr>
          <a:xfrm>
            <a:off x="8732520" y="3300984"/>
            <a:ext cx="1746504" cy="3200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Ship the winners</a:t>
            </a:r>
            <a:endParaRPr lang="en-US" sz="1450" dirty="0"/>
          </a:p>
        </p:txBody>
      </p:sp>
      <p:sp>
        <p:nvSpPr>
          <p:cNvPr id="43" name="Shape 35"/>
          <p:cNvSpPr/>
          <p:nvPr/>
        </p:nvSpPr>
        <p:spPr>
          <a:xfrm>
            <a:off x="10524744" y="3319272"/>
            <a:ext cx="969264" cy="256032"/>
          </a:xfrm>
          <a:prstGeom prst="roundRect">
            <a:avLst>
              <a:gd name="adj" fmla="val 32143"/>
            </a:avLst>
          </a:prstGeom>
          <a:solidFill>
            <a:srgbClr val="202E4E"/>
          </a:solidFill>
          <a:ln w="12700">
            <a:solidFill>
              <a:srgbClr val="4D8DFF"/>
            </a:solidFill>
            <a:prstDash val="solid"/>
          </a:ln>
        </p:spPr>
      </p:sp>
      <p:sp>
        <p:nvSpPr>
          <p:cNvPr id="44" name="Text 36"/>
          <p:cNvSpPr/>
          <p:nvPr/>
        </p:nvSpPr>
        <p:spPr>
          <a:xfrm>
            <a:off x="10524744" y="3319272"/>
            <a:ext cx="969264" cy="256032"/>
          </a:xfrm>
          <a:prstGeom prst="rect">
            <a:avLst/>
          </a:prstGeom>
          <a:noFill/>
          <a:ln/>
        </p:spPr>
        <p:txBody>
          <a:bodyPr wrap="square" lIns="0" tIns="0" rIns="0" bIns="0" rtlCol="0" anchor="ctr"/>
          <a:lstStyle/>
          <a:p>
            <a:pPr algn="ctr" indent="0" marL="0">
              <a:buNone/>
            </a:pPr>
            <a:r>
              <a:rPr lang="en-US" sz="750" b="1" spc="100" kern="0" dirty="0">
                <a:solidFill>
                  <a:srgbClr val="4D8DFF"/>
                </a:solidFill>
                <a:latin typeface="Arial" pitchFamily="34" charset="0"/>
                <a:ea typeface="Arial" pitchFamily="34" charset="-122"/>
                <a:cs typeface="Arial" pitchFamily="34" charset="-120"/>
              </a:rPr>
              <a:t>PHASE 3</a:t>
            </a:r>
            <a:endParaRPr lang="en-US" sz="750" dirty="0"/>
          </a:p>
        </p:txBody>
      </p:sp>
      <p:sp>
        <p:nvSpPr>
          <p:cNvPr id="45" name="Text 37"/>
          <p:cNvSpPr/>
          <p:nvPr/>
        </p:nvSpPr>
        <p:spPr>
          <a:xfrm>
            <a:off x="8732520" y="3666744"/>
            <a:ext cx="2706624" cy="777240"/>
          </a:xfrm>
          <a:prstGeom prst="rect">
            <a:avLst/>
          </a:prstGeom>
          <a:noFill/>
          <a:ln/>
        </p:spPr>
        <p:txBody>
          <a:bodyPr wrap="square" lIns="0" tIns="0" rIns="0" bIns="0" rtlCol="0" anchor="ctr"/>
          <a:lstStyle/>
          <a:p>
            <a:pPr indent="0" marL="0">
              <a:buNone/>
            </a:pPr>
            <a:r>
              <a:rPr lang="en-US" sz="1100" dirty="0">
                <a:solidFill>
                  <a:srgbClr val="8CA0C4"/>
                </a:solidFill>
                <a:latin typeface="Arial" pitchFamily="34" charset="0"/>
                <a:ea typeface="Arial" pitchFamily="34" charset="-122"/>
                <a:cs typeface="Arial" pitchFamily="34" charset="-120"/>
              </a:rPr>
              <a:t>Production PRs, not stranded JavaScript</a:t>
            </a:r>
            <a:endParaRPr lang="en-US" sz="1100" dirty="0"/>
          </a:p>
        </p:txBody>
      </p:sp>
      <p:sp>
        <p:nvSpPr>
          <p:cNvPr id="46" name="Shape 38"/>
          <p:cNvSpPr/>
          <p:nvPr/>
        </p:nvSpPr>
        <p:spPr>
          <a:xfrm>
            <a:off x="548640" y="4892040"/>
            <a:ext cx="11091672" cy="1097280"/>
          </a:xfrm>
          <a:prstGeom prst="roundRect">
            <a:avLst>
              <a:gd name="adj" fmla="val 7500"/>
            </a:avLst>
          </a:prstGeom>
          <a:solidFill>
            <a:srgbClr val="202E4E"/>
          </a:solidFill>
          <a:ln w="12700">
            <a:solidFill>
              <a:srgbClr val="2EE6A8"/>
            </a:solidFill>
            <a:prstDash val="solid"/>
          </a:ln>
        </p:spPr>
      </p:sp>
      <p:sp>
        <p:nvSpPr>
          <p:cNvPr id="47" name="Text 39"/>
          <p:cNvSpPr/>
          <p:nvPr/>
        </p:nvSpPr>
        <p:spPr>
          <a:xfrm>
            <a:off x="868680" y="4892040"/>
            <a:ext cx="10451592" cy="10972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This isn't a roadmap racing Opal — it's a different architecture. </a:t>
            </a:r>
            <a:pPr indent="0" marL="0">
              <a:buNone/>
            </a:pPr>
            <a:r>
              <a:rPr lang="en-US" sz="1350" dirty="0">
                <a:solidFill>
                  <a:srgbClr val="C9D8F2"/>
                </a:solidFill>
                <a:latin typeface="Arial" pitchFamily="34" charset="0"/>
                <a:ea typeface="Arial" pitchFamily="34" charset="-122"/>
                <a:cs typeface="Arial" pitchFamily="34" charset="-120"/>
              </a:rPr>
              <a:t>Repo-native authoring, git provenance, real-environment truth, and a compounding knowledge system don't extend from an editor-embedded agent. The loop closed end-to-end on a live enterprise tenant on July 23, 2026.</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475488"/>
            <a:ext cx="11091672" cy="274320"/>
          </a:xfrm>
          <a:prstGeom prst="rect">
            <a:avLst/>
          </a:prstGeom>
          <a:noFill/>
          <a:ln/>
        </p:spPr>
        <p:txBody>
          <a:bodyPr wrap="square" lIns="0" tIns="0" rIns="0" bIns="0" rtlCol="0" anchor="ctr"/>
          <a:lstStyle/>
          <a:p>
            <a:pPr indent="0" marL="0">
              <a:buNone/>
            </a:pPr>
            <a:r>
              <a:rPr lang="en-US" sz="1100" b="1" spc="300" kern="0" dirty="0">
                <a:solidFill>
                  <a:srgbClr val="2EE6A8"/>
                </a:solidFill>
                <a:latin typeface="Arial" pitchFamily="34" charset="0"/>
                <a:ea typeface="Arial" pitchFamily="34" charset="-122"/>
                <a:cs typeface="Arial" pitchFamily="34" charset="-120"/>
              </a:rPr>
              <a:t>THE BOTTOM LINE</a:t>
            </a:r>
            <a:endParaRPr lang="en-US" sz="1100" dirty="0"/>
          </a:p>
        </p:txBody>
      </p:sp>
      <p:sp>
        <p:nvSpPr>
          <p:cNvPr id="3" name="Text 1"/>
          <p:cNvSpPr/>
          <p:nvPr/>
        </p:nvSpPr>
        <p:spPr>
          <a:xfrm>
            <a:off x="548640" y="749808"/>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Editor agents optimize clicks. Enterprises run programs.</a:t>
            </a:r>
            <a:endParaRPr lang="en-US" sz="3000" dirty="0"/>
          </a:p>
        </p:txBody>
      </p:sp>
      <p:sp>
        <p:nvSpPr>
          <p:cNvPr id="4" name="Text 2"/>
          <p:cNvSpPr/>
          <p:nvPr/>
        </p:nvSpPr>
        <p:spPr>
          <a:xfrm>
            <a:off x="548640" y="1828800"/>
            <a:ext cx="10881360" cy="1737360"/>
          </a:xfrm>
          <a:prstGeom prst="rect">
            <a:avLst/>
          </a:prstGeom>
          <a:noFill/>
          <a:ln/>
        </p:spPr>
        <p:txBody>
          <a:bodyPr wrap="square" lIns="0" tIns="0" rIns="0" bIns="0" rtlCol="0" anchor="ctr"/>
          <a:lstStyle/>
          <a:p>
            <a:pPr indent="0" marL="0">
              <a:lnSpc>
                <a:spcPts val="2800"/>
              </a:lnSpc>
              <a:buNone/>
            </a:pPr>
            <a:r>
              <a:rPr lang="en-US" sz="1900" dirty="0">
                <a:solidFill>
                  <a:srgbClr val="C9D8F2"/>
                </a:solidFill>
                <a:latin typeface="Arial" pitchFamily="34" charset="0"/>
                <a:ea typeface="Arial" pitchFamily="34" charset="-122"/>
                <a:cs typeface="Arial" pitchFamily="34" charset="-120"/>
              </a:rPr>
              <a:t>Opal makes the visual editor faster. It does not change what the editor can express, who stands behind generated code, how teams work together, or whether winners ever reach production source.</a:t>
            </a:r>
            <a:endParaRPr lang="en-US" sz="1900" dirty="0"/>
          </a:p>
          <a:p>
            <a:pPr indent="0" marL="0">
              <a:lnSpc>
                <a:spcPts val="2800"/>
              </a:lnSpc>
              <a:buNone/>
            </a:pPr>
            <a:endParaRPr lang="en-US" sz="1900" dirty="0"/>
          </a:p>
          <a:p>
            <a:pPr indent="0" marL="0">
              <a:lnSpc>
                <a:spcPts val="2800"/>
              </a:lnSpc>
              <a:buNone/>
            </a:pPr>
            <a:r>
              <a:rPr lang="en-US" sz="1900" dirty="0">
                <a:solidFill>
                  <a:srgbClr val="C9D8F2"/>
                </a:solidFill>
                <a:latin typeface="Arial" pitchFamily="34" charset="0"/>
                <a:ea typeface="Arial" pitchFamily="34" charset="-122"/>
                <a:cs typeface="Arial" pitchFamily="34" charset="-120"/>
              </a:rPr>
              <a:t>The agent-native authoring layer answers all four — with working software, on a live enterprise deployment, integrated with Optimizely today.</a:t>
            </a:r>
            <a:endParaRPr lang="en-US" sz="1900" dirty="0"/>
          </a:p>
        </p:txBody>
      </p:sp>
      <p:sp>
        <p:nvSpPr>
          <p:cNvPr id="5" name="Shape 3"/>
          <p:cNvSpPr/>
          <p:nvPr/>
        </p:nvSpPr>
        <p:spPr>
          <a:xfrm>
            <a:off x="548640" y="3977640"/>
            <a:ext cx="1956816" cy="566928"/>
          </a:xfrm>
          <a:prstGeom prst="roundRect">
            <a:avLst>
              <a:gd name="adj" fmla="val 14516"/>
            </a:avLst>
          </a:prstGeom>
          <a:solidFill>
            <a:srgbClr val="18233B"/>
          </a:solidFill>
          <a:ln w="12700">
            <a:solidFill>
              <a:srgbClr val="2A3A5E"/>
            </a:solidFill>
            <a:prstDash val="solid"/>
          </a:ln>
        </p:spPr>
      </p:sp>
      <p:pic>
        <p:nvPicPr>
          <p:cNvPr id="6" name="Image 0" descr="/private/tmp/claude-501/-Users-bryanhopkins-AIChat-resort-ai-chatbot/485380a5-5fbc-481a-aba5-950dd47c1f1d/scratchpad/deck/icons/edit-blue.png">    </p:cNvPr>
          <p:cNvPicPr>
            <a:picLocks noChangeAspect="1"/>
          </p:cNvPicPr>
          <p:nvPr/>
        </p:nvPicPr>
        <p:blipFill>
          <a:blip r:embed="rId1"/>
          <a:stretch>
            <a:fillRect/>
          </a:stretch>
        </p:blipFill>
        <p:spPr>
          <a:xfrm>
            <a:off x="694944" y="4133088"/>
            <a:ext cx="256032" cy="256032"/>
          </a:xfrm>
          <a:prstGeom prst="rect">
            <a:avLst/>
          </a:prstGeom>
        </p:spPr>
      </p:pic>
      <p:sp>
        <p:nvSpPr>
          <p:cNvPr id="7" name="Text 4"/>
          <p:cNvSpPr/>
          <p:nvPr/>
        </p:nvSpPr>
        <p:spPr>
          <a:xfrm>
            <a:off x="1005840" y="3977640"/>
            <a:ext cx="1453896"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Describe</a:t>
            </a:r>
            <a:endParaRPr lang="en-US" sz="1250" dirty="0"/>
          </a:p>
        </p:txBody>
      </p:sp>
      <p:sp>
        <p:nvSpPr>
          <p:cNvPr id="8" name="Text 5"/>
          <p:cNvSpPr/>
          <p:nvPr/>
        </p:nvSpPr>
        <p:spPr>
          <a:xfrm>
            <a:off x="2487168" y="3977640"/>
            <a:ext cx="347472" cy="566928"/>
          </a:xfrm>
          <a:prstGeom prst="rect">
            <a:avLst/>
          </a:prstGeom>
          <a:noFill/>
          <a:ln/>
        </p:spPr>
        <p:txBody>
          <a:bodyPr wrap="square" lIns="0" tIns="0" rIns="0" bIns="0" rtlCol="0" anchor="ctr"/>
          <a:lstStyle/>
          <a:p>
            <a:pPr algn="ctr" indent="0" marL="0">
              <a:buNone/>
            </a:pPr>
            <a:r>
              <a:rPr lang="en-US" sz="1400" dirty="0">
                <a:solidFill>
                  <a:srgbClr val="8CA0C4"/>
                </a:solidFill>
                <a:latin typeface="Arial" pitchFamily="34" charset="0"/>
                <a:ea typeface="Arial" pitchFamily="34" charset="-122"/>
                <a:cs typeface="Arial" pitchFamily="34" charset="-120"/>
              </a:rPr>
              <a:t>→</a:t>
            </a:r>
            <a:endParaRPr lang="en-US" sz="1400" dirty="0"/>
          </a:p>
        </p:txBody>
      </p:sp>
      <p:sp>
        <p:nvSpPr>
          <p:cNvPr id="9" name="Shape 6"/>
          <p:cNvSpPr/>
          <p:nvPr/>
        </p:nvSpPr>
        <p:spPr>
          <a:xfrm>
            <a:off x="2798064" y="3977640"/>
            <a:ext cx="1956816" cy="566928"/>
          </a:xfrm>
          <a:prstGeom prst="roundRect">
            <a:avLst>
              <a:gd name="adj" fmla="val 14516"/>
            </a:avLst>
          </a:prstGeom>
          <a:solidFill>
            <a:srgbClr val="18233B"/>
          </a:solidFill>
          <a:ln w="12700">
            <a:solidFill>
              <a:srgbClr val="2A3A5E"/>
            </a:solidFill>
            <a:prstDash val="solid"/>
          </a:ln>
        </p:spPr>
      </p:sp>
      <p:pic>
        <p:nvPicPr>
          <p:cNvPr id="10" name="Image 1" descr="/private/tmp/claude-501/-Users-bryanhopkins-AIChat-resort-ai-chatbot/485380a5-5fbc-481a-aba5-950dd47c1f1d/scratchpad/deck/icons/code-blue.png">    </p:cNvPr>
          <p:cNvPicPr>
            <a:picLocks noChangeAspect="1"/>
          </p:cNvPicPr>
          <p:nvPr/>
        </p:nvPicPr>
        <p:blipFill>
          <a:blip r:embed="rId2"/>
          <a:stretch>
            <a:fillRect/>
          </a:stretch>
        </p:blipFill>
        <p:spPr>
          <a:xfrm>
            <a:off x="2944368" y="4133088"/>
            <a:ext cx="256032" cy="256032"/>
          </a:xfrm>
          <a:prstGeom prst="rect">
            <a:avLst/>
          </a:prstGeom>
        </p:spPr>
      </p:pic>
      <p:sp>
        <p:nvSpPr>
          <p:cNvPr id="11" name="Text 7"/>
          <p:cNvSpPr/>
          <p:nvPr/>
        </p:nvSpPr>
        <p:spPr>
          <a:xfrm>
            <a:off x="3255264" y="3977640"/>
            <a:ext cx="1453896"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Build</a:t>
            </a:r>
            <a:endParaRPr lang="en-US" sz="1250" dirty="0"/>
          </a:p>
        </p:txBody>
      </p:sp>
      <p:sp>
        <p:nvSpPr>
          <p:cNvPr id="12" name="Text 8"/>
          <p:cNvSpPr/>
          <p:nvPr/>
        </p:nvSpPr>
        <p:spPr>
          <a:xfrm>
            <a:off x="4736592" y="3977640"/>
            <a:ext cx="347472" cy="566928"/>
          </a:xfrm>
          <a:prstGeom prst="rect">
            <a:avLst/>
          </a:prstGeom>
          <a:noFill/>
          <a:ln/>
        </p:spPr>
        <p:txBody>
          <a:bodyPr wrap="square" lIns="0" tIns="0" rIns="0" bIns="0" rtlCol="0" anchor="ctr"/>
          <a:lstStyle/>
          <a:p>
            <a:pPr algn="ctr" indent="0" marL="0">
              <a:buNone/>
            </a:pPr>
            <a:r>
              <a:rPr lang="en-US" sz="1400" dirty="0">
                <a:solidFill>
                  <a:srgbClr val="8CA0C4"/>
                </a:solidFill>
                <a:latin typeface="Arial" pitchFamily="34" charset="0"/>
                <a:ea typeface="Arial" pitchFamily="34" charset="-122"/>
                <a:cs typeface="Arial" pitchFamily="34" charset="-120"/>
              </a:rPr>
              <a:t>→</a:t>
            </a:r>
            <a:endParaRPr lang="en-US" sz="1400" dirty="0"/>
          </a:p>
        </p:txBody>
      </p:sp>
      <p:sp>
        <p:nvSpPr>
          <p:cNvPr id="13" name="Shape 9"/>
          <p:cNvSpPr/>
          <p:nvPr/>
        </p:nvSpPr>
        <p:spPr>
          <a:xfrm>
            <a:off x="5047488" y="3977640"/>
            <a:ext cx="1956816" cy="566928"/>
          </a:xfrm>
          <a:prstGeom prst="roundRect">
            <a:avLst>
              <a:gd name="adj" fmla="val 14516"/>
            </a:avLst>
          </a:prstGeom>
          <a:solidFill>
            <a:srgbClr val="18233B"/>
          </a:solidFill>
          <a:ln w="12700">
            <a:solidFill>
              <a:srgbClr val="2A3A5E"/>
            </a:solidFill>
            <a:prstDash val="solid"/>
          </a:ln>
        </p:spPr>
      </p:sp>
      <p:pic>
        <p:nvPicPr>
          <p:cNvPr id="14" name="Image 2" descr="/private/tmp/claude-501/-Users-bryanhopkins-AIChat-resort-ai-chatbot/485380a5-5fbc-481a-aba5-950dd47c1f1d/scratchpad/deck/icons/eye-blue.png">    </p:cNvPr>
          <p:cNvPicPr>
            <a:picLocks noChangeAspect="1"/>
          </p:cNvPicPr>
          <p:nvPr/>
        </p:nvPicPr>
        <p:blipFill>
          <a:blip r:embed="rId3"/>
          <a:stretch>
            <a:fillRect/>
          </a:stretch>
        </p:blipFill>
        <p:spPr>
          <a:xfrm>
            <a:off x="5193792" y="4133088"/>
            <a:ext cx="256032" cy="256032"/>
          </a:xfrm>
          <a:prstGeom prst="rect">
            <a:avLst/>
          </a:prstGeom>
        </p:spPr>
      </p:pic>
      <p:sp>
        <p:nvSpPr>
          <p:cNvPr id="15" name="Text 10"/>
          <p:cNvSpPr/>
          <p:nvPr/>
        </p:nvSpPr>
        <p:spPr>
          <a:xfrm>
            <a:off x="5504688" y="3977640"/>
            <a:ext cx="1453896"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Review</a:t>
            </a:r>
            <a:endParaRPr lang="en-US" sz="1250" dirty="0"/>
          </a:p>
        </p:txBody>
      </p:sp>
      <p:sp>
        <p:nvSpPr>
          <p:cNvPr id="16" name="Text 11"/>
          <p:cNvSpPr/>
          <p:nvPr/>
        </p:nvSpPr>
        <p:spPr>
          <a:xfrm>
            <a:off x="6986016" y="3977640"/>
            <a:ext cx="347472" cy="566928"/>
          </a:xfrm>
          <a:prstGeom prst="rect">
            <a:avLst/>
          </a:prstGeom>
          <a:noFill/>
          <a:ln/>
        </p:spPr>
        <p:txBody>
          <a:bodyPr wrap="square" lIns="0" tIns="0" rIns="0" bIns="0" rtlCol="0" anchor="ctr"/>
          <a:lstStyle/>
          <a:p>
            <a:pPr algn="ctr" indent="0" marL="0">
              <a:buNone/>
            </a:pPr>
            <a:r>
              <a:rPr lang="en-US" sz="1400" dirty="0">
                <a:solidFill>
                  <a:srgbClr val="8CA0C4"/>
                </a:solidFill>
                <a:latin typeface="Arial" pitchFamily="34" charset="0"/>
                <a:ea typeface="Arial" pitchFamily="34" charset="-122"/>
                <a:cs typeface="Arial" pitchFamily="34" charset="-120"/>
              </a:rPr>
              <a:t>→</a:t>
            </a:r>
            <a:endParaRPr lang="en-US" sz="1400" dirty="0"/>
          </a:p>
        </p:txBody>
      </p:sp>
      <p:sp>
        <p:nvSpPr>
          <p:cNvPr id="17" name="Shape 12"/>
          <p:cNvSpPr/>
          <p:nvPr/>
        </p:nvSpPr>
        <p:spPr>
          <a:xfrm>
            <a:off x="7296912" y="3977640"/>
            <a:ext cx="1956816" cy="566928"/>
          </a:xfrm>
          <a:prstGeom prst="roundRect">
            <a:avLst>
              <a:gd name="adj" fmla="val 14516"/>
            </a:avLst>
          </a:prstGeom>
          <a:solidFill>
            <a:srgbClr val="18233B"/>
          </a:solidFill>
          <a:ln w="12700">
            <a:solidFill>
              <a:srgbClr val="2A3A5E"/>
            </a:solidFill>
            <a:prstDash val="solid"/>
          </a:ln>
        </p:spPr>
      </p:sp>
      <p:pic>
        <p:nvPicPr>
          <p:cNvPr id="18" name="Image 3" descr="/private/tmp/claude-501/-Users-bryanhopkins-AIChat-resort-ai-chatbot/485380a5-5fbc-481a-aba5-950dd47c1f1d/scratchpad/deck/icons/shield-mint.png">    </p:cNvPr>
          <p:cNvPicPr>
            <a:picLocks noChangeAspect="1"/>
          </p:cNvPicPr>
          <p:nvPr/>
        </p:nvPicPr>
        <p:blipFill>
          <a:blip r:embed="rId4"/>
          <a:stretch>
            <a:fillRect/>
          </a:stretch>
        </p:blipFill>
        <p:spPr>
          <a:xfrm>
            <a:off x="7443216" y="4133088"/>
            <a:ext cx="256032" cy="256032"/>
          </a:xfrm>
          <a:prstGeom prst="rect">
            <a:avLst/>
          </a:prstGeom>
        </p:spPr>
      </p:pic>
      <p:sp>
        <p:nvSpPr>
          <p:cNvPr id="19" name="Text 13"/>
          <p:cNvSpPr/>
          <p:nvPr/>
        </p:nvSpPr>
        <p:spPr>
          <a:xfrm>
            <a:off x="7754112" y="3977640"/>
            <a:ext cx="1453896"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Certify &amp; Ship</a:t>
            </a:r>
            <a:endParaRPr lang="en-US" sz="1250" dirty="0"/>
          </a:p>
        </p:txBody>
      </p:sp>
      <p:sp>
        <p:nvSpPr>
          <p:cNvPr id="20" name="Text 14"/>
          <p:cNvSpPr/>
          <p:nvPr/>
        </p:nvSpPr>
        <p:spPr>
          <a:xfrm>
            <a:off x="9235440" y="3977640"/>
            <a:ext cx="347472" cy="566928"/>
          </a:xfrm>
          <a:prstGeom prst="rect">
            <a:avLst/>
          </a:prstGeom>
          <a:noFill/>
          <a:ln/>
        </p:spPr>
        <p:txBody>
          <a:bodyPr wrap="square" lIns="0" tIns="0" rIns="0" bIns="0" rtlCol="0" anchor="ctr"/>
          <a:lstStyle/>
          <a:p>
            <a:pPr algn="ctr" indent="0" marL="0">
              <a:buNone/>
            </a:pPr>
            <a:r>
              <a:rPr lang="en-US" sz="1400" dirty="0">
                <a:solidFill>
                  <a:srgbClr val="8CA0C4"/>
                </a:solidFill>
                <a:latin typeface="Arial" pitchFamily="34" charset="0"/>
                <a:ea typeface="Arial" pitchFamily="34" charset="-122"/>
                <a:cs typeface="Arial" pitchFamily="34" charset="-120"/>
              </a:rPr>
              <a:t>→</a:t>
            </a:r>
            <a:endParaRPr lang="en-US" sz="1400" dirty="0"/>
          </a:p>
        </p:txBody>
      </p:sp>
      <p:sp>
        <p:nvSpPr>
          <p:cNvPr id="21" name="Shape 15"/>
          <p:cNvSpPr/>
          <p:nvPr/>
        </p:nvSpPr>
        <p:spPr>
          <a:xfrm>
            <a:off x="9546336" y="3977640"/>
            <a:ext cx="1956816" cy="566928"/>
          </a:xfrm>
          <a:prstGeom prst="roundRect">
            <a:avLst>
              <a:gd name="adj" fmla="val 14516"/>
            </a:avLst>
          </a:prstGeom>
          <a:solidFill>
            <a:srgbClr val="18233B"/>
          </a:solidFill>
          <a:ln w="12700">
            <a:solidFill>
              <a:srgbClr val="2A3A5E"/>
            </a:solidFill>
            <a:prstDash val="solid"/>
          </a:ln>
        </p:spPr>
      </p:sp>
      <p:pic>
        <p:nvPicPr>
          <p:cNvPr id="22" name="Image 4" descr="/private/tmp/claude-501/-Users-bryanhopkins-AIChat-resort-ai-chatbot/485380a5-5fbc-481a-aba5-950dd47c1f1d/scratchpad/deck/icons/refresh-blue.png">    </p:cNvPr>
          <p:cNvPicPr>
            <a:picLocks noChangeAspect="1"/>
          </p:cNvPicPr>
          <p:nvPr/>
        </p:nvPicPr>
        <p:blipFill>
          <a:blip r:embed="rId5"/>
          <a:stretch>
            <a:fillRect/>
          </a:stretch>
        </p:blipFill>
        <p:spPr>
          <a:xfrm>
            <a:off x="9692640" y="4133088"/>
            <a:ext cx="256032" cy="256032"/>
          </a:xfrm>
          <a:prstGeom prst="rect">
            <a:avLst/>
          </a:prstGeom>
        </p:spPr>
      </p:pic>
      <p:sp>
        <p:nvSpPr>
          <p:cNvPr id="23" name="Text 16"/>
          <p:cNvSpPr/>
          <p:nvPr/>
        </p:nvSpPr>
        <p:spPr>
          <a:xfrm>
            <a:off x="10003536" y="3977640"/>
            <a:ext cx="1453896"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Learn</a:t>
            </a:r>
            <a:endParaRPr lang="en-US" sz="1250" dirty="0"/>
          </a:p>
        </p:txBody>
      </p:sp>
      <p:sp>
        <p:nvSpPr>
          <p:cNvPr id="24" name="Shape 17"/>
          <p:cNvSpPr/>
          <p:nvPr/>
        </p:nvSpPr>
        <p:spPr>
          <a:xfrm>
            <a:off x="548640" y="4983480"/>
            <a:ext cx="11091672" cy="1005840"/>
          </a:xfrm>
          <a:prstGeom prst="roundRect">
            <a:avLst>
              <a:gd name="adj" fmla="val 8182"/>
            </a:avLst>
          </a:prstGeom>
          <a:solidFill>
            <a:srgbClr val="202E4E"/>
          </a:solidFill>
          <a:ln w="12700">
            <a:solidFill>
              <a:srgbClr val="2EE6A8"/>
            </a:solidFill>
            <a:prstDash val="solid"/>
          </a:ln>
        </p:spPr>
      </p:sp>
      <p:sp>
        <p:nvSpPr>
          <p:cNvPr id="25" name="Text 18"/>
          <p:cNvSpPr/>
          <p:nvPr/>
        </p:nvSpPr>
        <p:spPr>
          <a:xfrm>
            <a:off x="868680" y="5138928"/>
            <a:ext cx="104241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See it run on your pages — a design-partner pilot takes 90 days and produces the numbers.</a:t>
            </a:r>
            <a:endParaRPr lang="en-US" sz="1600" dirty="0"/>
          </a:p>
        </p:txBody>
      </p:sp>
      <p:sp>
        <p:nvSpPr>
          <p:cNvPr id="26" name="Text 19"/>
          <p:cNvSpPr/>
          <p:nvPr/>
        </p:nvSpPr>
        <p:spPr>
          <a:xfrm>
            <a:off x="868680" y="5532120"/>
            <a:ext cx="10058400" cy="320040"/>
          </a:xfrm>
          <a:prstGeom prst="rect">
            <a:avLst/>
          </a:prstGeom>
          <a:noFill/>
          <a:ln/>
        </p:spPr>
        <p:txBody>
          <a:bodyPr wrap="square" lIns="0" tIns="0" rIns="0" bIns="0" rtlCol="0" anchor="ctr"/>
          <a:lstStyle/>
          <a:p>
            <a:pPr indent="0" marL="0">
              <a:buNone/>
            </a:pPr>
            <a:r>
              <a:rPr lang="en-US" sz="1250" dirty="0">
                <a:solidFill>
                  <a:srgbClr val="2EE6A8"/>
                </a:solidFill>
                <a:latin typeface="Arial" pitchFamily="34" charset="0"/>
                <a:ea typeface="Arial" pitchFamily="34" charset="-122"/>
                <a:cs typeface="Arial" pitchFamily="34" charset="-120"/>
              </a:rPr>
              <a:t>Bryan Hopkins  ·  INHQ  ·  bryan@inhq.com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Opal Gap — What Enterprises Actually Need</dc:title>
  <dc:subject>PptxGenJS Presentation</dc:subject>
  <dc:creator>INHQ</dc:creator>
  <cp:lastModifiedBy>INHQ</cp:lastModifiedBy>
  <cp:revision>1</cp:revision>
  <dcterms:created xsi:type="dcterms:W3CDTF">2026-07-23T20:00:40Z</dcterms:created>
  <dcterms:modified xsi:type="dcterms:W3CDTF">2026-07-23T20:00:40Z</dcterms:modified>
</cp:coreProperties>
</file>