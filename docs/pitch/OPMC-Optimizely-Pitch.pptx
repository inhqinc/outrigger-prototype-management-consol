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are the layer experimentation platforms are missing on both sides of the test: authoring beyond the visual editor, and shipping winners as production code. Working product, live enterprise tenant, loop closed end-to-end July 23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gaps sit OUTSIDE the platform's core competency (traffic, stats, winner declaration). Opal, VWO Copilot and AB Tasty Evi all generate inside the same editor ceiling — none of them solve authoring depth or shipping.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discipline: we are not an A/B testing tool. We are the build-and-ship layer. This keeps every experimentation vendor a potential partner or acquirer instead of a competitor.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not deck-ware. The full loop — brief, agent build, real-env review, certification lesson, API-verified ship — ran on a real hospitality enterprise tenant and is live in an Optimizely Web Experiment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story is the moat in miniature: a failure no human predicted, caught live, encoded into the platform (skill guidance + template fix + automated check) the same day. Every prototype after this one inherits the immunity.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 the hood: capture derives the page's data islands and design tokens automatically; skills are versioned instructions agents load on wake; every artifact is SHA-pinned so review-bytes equal ship-bytes.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prototype in Testing is immutable — the board state is derived from the experiment actually running, so nobody edits a live variation. This turns the tool from a build utility into the management layer for the whole experimentation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learning loop is the asset an acquirer cannot shortcut: the skills encode failures actually paid for, and quality compounds with usage. Copying features doesn't copy the accumulated knowledge.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check encodes a real failure we personally hit in production. This is the slide an Optimizely PM demos internally the week after close — the custom-code box is their highest-support-cost, lowest-trust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Opal's roadmap overlap is real, but it lives inside the editor ceiling. We are the depth layer beneath it: source-true authoring, certification, and the production bridge. MCP interop makes the complement concrete rather than aspirational.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price on displaced dev-labor and build volume, not on testing — so the sale lands on top of the existing platform contract. The experiments that never happened are the hidden 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is entirely about removing insider knowledge from the product. Phase 2's hosted agents are the 'anyone can use it' unlock. Phases 3-4 are the acquisition-readiness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Respectful pressure: the neutral, multi-connector design means this layer serves the whole ecosystem — LaunchDarkly and Amplitude conversations run in parallel. We would rather build it with Optimizely.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proof and momentum. The pilot is designed to produce the acquisition metrics regardless of outcome — the data has standalone value for the fundraise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7.png"/><Relationship Id="rId9" Type="http://schemas.openxmlformats.org/officeDocument/2006/relationships/image" Target="../media/image-3-7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1.png"/><Relationship Id="rId6" Type="http://schemas.openxmlformats.org/officeDocument/2006/relationships/image" Target="../media/image-9-1.png"/><Relationship Id="rId7" Type="http://schemas.openxmlformats.org/officeDocument/2006/relationships/image" Target="../media/image-9-1.png"/><Relationship Id="rId8" Type="http://schemas.openxmlformats.org/officeDocument/2006/relationships/image" Target="../media/image-9-1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OPTIMIZELY  ·  CONFIDENTIAL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173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Agent-Native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 Authoring Layer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beyond the editor.  Certify every variation.  Ship every winner.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526280"/>
            <a:ext cx="195681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6" name="Image 0" descr="/private/tmp/claude-501/-Users-bryanhopkins-AIChat-resort-ai-chatbot/485380a5-5fbc-481a-aba5-950dd47c1f1d/scratchpad/deck/icons/edit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4681728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05840" y="452628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2487168" y="4526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798064" y="4526280"/>
            <a:ext cx="195681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10" name="Image 1" descr="/private/tmp/claude-501/-Users-bryanhopkins-AIChat-resort-ai-chatbot/485380a5-5fbc-481a-aba5-950dd47c1f1d/scratchpad/deck/icons/code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468172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55264" y="452628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736592" y="4526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047488" y="4526280"/>
            <a:ext cx="195681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14" name="Image 2" descr="/private/tmp/claude-501/-Users-bryanhopkins-AIChat-resort-ai-chatbot/485380a5-5fbc-481a-aba5-950dd47c1f1d/scratchpad/deck/icons/eye-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2" y="4681728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504688" y="452628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6986016" y="4526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7296912" y="4526280"/>
            <a:ext cx="195681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18" name="Image 3" descr="/private/tmp/claude-501/-Users-bryanhopkins-AIChat-resort-ai-chatbot/485380a5-5fbc-481a-aba5-950dd47c1f1d/scratchpad/deck/icons/shield-m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3216" y="4681728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754112" y="452628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Certify &amp; Ship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9235440" y="4526280"/>
            <a:ext cx="347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9546336" y="4526280"/>
            <a:ext cx="195681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22" name="Image 4" descr="/private/tmp/claude-501/-Users-bryanhopkins-AIChat-resort-ai-chatbot/485380a5-5fbc-481a-aba5-950dd47c1f1d/scratchpad/deck/icons/refresh-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2640" y="4681728"/>
            <a:ext cx="256032" cy="25603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0003536" y="4526280"/>
            <a:ext cx="1453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250" dirty="0"/>
          </a:p>
        </p:txBody>
      </p:sp>
      <p:sp>
        <p:nvSpPr>
          <p:cNvPr id="24" name="Text 17"/>
          <p:cNvSpPr/>
          <p:nvPr/>
        </p:nvSpPr>
        <p:spPr>
          <a:xfrm>
            <a:off x="548640" y="6172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OPMC (working name)   ·   Live on Outrigger Hotels &amp; Resorts   ·  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experimentation platform has the same two gaps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31536" cy="3566160"/>
          </a:xfrm>
          <a:prstGeom prst="roundRect">
            <a:avLst>
              <a:gd name="adj" fmla="val 2308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011680"/>
            <a:ext cx="475488" cy="475488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6" name="Image 0" descr="/private/tmp/claude-501/-Users-bryanhopkins-AIChat-resort-ai-chatbot/485380a5-5fbc-481a-aba5-950dd47c1f1d/scratchpad/deck/icons/layer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5665" y="2118665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020824"/>
            <a:ext cx="4242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authoring ceiling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914400" y="2743200"/>
            <a:ext cx="470001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editors cap out at headline swaps and color changes.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Interactive, data-backed, design-system-true experiences are painful or impossible to build inside them.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ambitious experiments get hand-coded off to the side — or never happen at all.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6208776" y="1691640"/>
            <a:ext cx="5431536" cy="3566160"/>
          </a:xfrm>
          <a:prstGeom prst="roundRect">
            <a:avLst>
              <a:gd name="adj" fmla="val 2308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28816" y="2011680"/>
            <a:ext cx="475488" cy="475488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1" name="Image 1" descr="/private/tmp/claude-501/-Users-bryanhopkins-AIChat-resort-ai-chatbot/485380a5-5fbc-481a-aba5-950dd47c1f1d/scratchpad/deck/icons/send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5801" y="2118665"/>
            <a:ext cx="261518" cy="26151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68896" y="2020824"/>
            <a:ext cx="4242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shipping gap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6574536" y="2743200"/>
            <a:ext cx="470001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Winners live forever as stranded client-side JavaScript — the production rebuild rarely happens.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custom-code box has zero quality gate: silent failures, flicker, support tickets.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instruments the cost from “winner declared” to “merged in production.”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548640" y="5577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result: the highest-value experiments are the least likely to be built — and the least likely to ship.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LAYER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bracket your platform — we don't compete with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121408" cy="1965960"/>
          </a:xfrm>
          <a:prstGeom prst="roundRect">
            <a:avLst>
              <a:gd name="adj" fmla="val 418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920240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6" name="Image 0" descr="/private/tmp/claude-501/-Users-bryanhopkins-AIChat-resort-ai-chatbot/485380a5-5fbc-481a-aba5-950dd47c1f1d/scratchpad/deck/icons/edi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7872" y="2014880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13232" y="2450592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13232" y="277977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writes the brief — PM, marketer, dev.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788920" y="1737360"/>
            <a:ext cx="2121408" cy="1965960"/>
          </a:xfrm>
          <a:prstGeom prst="roundRect">
            <a:avLst>
              <a:gd name="adj" fmla="val 418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953512" y="1920240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11" name="Image 1" descr="/private/tmp/claude-501/-Users-bryanhopkins-AIChat-resort-ai-chatbot/485380a5-5fbc-481a-aba5-950dd47c1f1d/scratchpad/deck/icons/cod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152" y="2014880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53512" y="2450592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2953512" y="277977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authors in a real repo: components, data, brand tokens.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0" y="1737360"/>
            <a:ext cx="2121408" cy="1965960"/>
          </a:xfrm>
          <a:prstGeom prst="roundRect">
            <a:avLst>
              <a:gd name="adj" fmla="val 418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193792" y="1920240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16" name="Image 2" descr="/private/tmp/claude-501/-Users-bryanhopkins-AIChat-resort-ai-chatbot/485380a5-5fbc-481a-aba5-950dd47c1f1d/scratchpad/deck/icons/ey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32" y="2014880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93792" y="2450592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193792" y="277977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Injected on the customer's real environment. Before any experiment.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7269480" y="1737360"/>
            <a:ext cx="2121408" cy="1965960"/>
          </a:xfrm>
          <a:prstGeom prst="roundRect">
            <a:avLst>
              <a:gd name="adj" fmla="val 418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434072" y="1920240"/>
            <a:ext cx="420624" cy="420624"/>
          </a:xfrm>
          <a:prstGeom prst="ellipse">
            <a:avLst/>
          </a:prstGeom>
          <a:solidFill>
            <a:srgbClr val="2EE6A8"/>
          </a:solidFill>
          <a:ln/>
        </p:spPr>
      </p:sp>
      <p:pic>
        <p:nvPicPr>
          <p:cNvPr id="21" name="Image 3" descr="/private/tmp/claude-501/-Users-bryanhopkins-AIChat-resort-ai-chatbot/485380a5-5fbc-481a-aba5-950dd47c1f1d/scratchpad/deck/icons/shield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8712" y="2014880"/>
            <a:ext cx="231343" cy="23134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34072" y="2450592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Certify &amp; Ship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434072" y="277977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QA gate, then pushed to Optimizely by API.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509760" y="1737360"/>
            <a:ext cx="2121408" cy="1965960"/>
          </a:xfrm>
          <a:prstGeom prst="roundRect">
            <a:avLst>
              <a:gd name="adj" fmla="val 418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674352" y="1920240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26" name="Image 4" descr="/private/tmp/claude-501/-Users-bryanhopkins-AIChat-resort-ai-chatbot/485380a5-5fbc-481a-aba5-950dd47c1f1d/scratchpad/deck/icons/refresh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8992" y="2014880"/>
            <a:ext cx="231343" cy="231343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9674352" y="2450592"/>
            <a:ext cx="17922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400" dirty="0"/>
          </a:p>
        </p:txBody>
      </p:sp>
      <p:sp>
        <p:nvSpPr>
          <p:cNvPr id="28" name="Text 21"/>
          <p:cNvSpPr/>
          <p:nvPr/>
        </p:nvSpPr>
        <p:spPr>
          <a:xfrm>
            <a:off x="9674352" y="2779776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session's friction becomes platform knowledge.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548640" y="40233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202E4E"/>
          </a:solidFill>
          <a:ln w="12700">
            <a:solidFill>
              <a:srgbClr val="4D8DFF"/>
            </a:solidFill>
            <a:prstDash val="solid"/>
          </a:ln>
        </p:spPr>
      </p:sp>
      <p:pic>
        <p:nvPicPr>
          <p:cNvPr id="30" name="Image 5" descr="/private/tmp/claude-501/-Users-bryanhopkins-AIChat-resort-ai-chatbot/485380a5-5fbc-481a-aba5-950dd47c1f1d/scratchpad/deck/icons/target-blu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233672"/>
            <a:ext cx="347472" cy="34747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325880" y="4023360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Optimizely runs the test.</a:t>
            </a:r>
            <a:pPr indent="0" marL="0">
              <a:buNone/>
            </a:pPr>
            <a:r>
              <a:rPr lang="en-US" sz="15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Traffic, stats, targeting, winner declaration — untouched. We plug in on either side of it.</a:t>
            </a:r>
            <a:endParaRPr lang="en-US" sz="1500" dirty="0"/>
          </a:p>
        </p:txBody>
      </p:sp>
      <p:sp>
        <p:nvSpPr>
          <p:cNvPr id="32" name="Shape 24"/>
          <p:cNvSpPr/>
          <p:nvPr/>
        </p:nvSpPr>
        <p:spPr>
          <a:xfrm>
            <a:off x="548640" y="516636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33" name="Image 6" descr="/private/tmp/claude-501/-Users-bryanhopkins-AIChat-resort-ai-chatbot/485380a5-5fbc-481a-aba5-950dd47c1f1d/scratchpad/deck/icons/x-cora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276088"/>
            <a:ext cx="237744" cy="23774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024128" y="5166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stats engine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3154680" y="516636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36" name="Image 7" descr="/private/tmp/claude-501/-Users-bryanhopkins-AIChat-resort-ai-chatbot/485380a5-5fbc-481a-aba5-950dd47c1f1d/scratchpad/deck/icons/x-cor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19272" y="5276088"/>
            <a:ext cx="237744" cy="237744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3630168" y="5166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traffic splitting</a:t>
            </a:r>
            <a:endParaRPr lang="en-US" sz="1200" dirty="0"/>
          </a:p>
        </p:txBody>
      </p:sp>
      <p:sp>
        <p:nvSpPr>
          <p:cNvPr id="38" name="Shape 28"/>
          <p:cNvSpPr/>
          <p:nvPr/>
        </p:nvSpPr>
        <p:spPr>
          <a:xfrm>
            <a:off x="5760720" y="5166360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18233B"/>
          </a:solidFill>
          <a:ln w="12700">
            <a:solidFill>
              <a:srgbClr val="2A3A5E"/>
            </a:solidFill>
            <a:prstDash val="solid"/>
          </a:ln>
        </p:spPr>
      </p:sp>
      <p:pic>
        <p:nvPicPr>
          <p:cNvPr id="39" name="Image 8" descr="/private/tmp/claude-501/-Users-bryanhopkins-AIChat-resort-ai-chatbot/485380a5-5fbc-481a-aba5-950dd47c1f1d/scratchpad/deck/icons/x-cora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5312" y="5276088"/>
            <a:ext cx="237744" cy="237744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236208" y="51663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winner declaration</a:t>
            </a:r>
            <a:endParaRPr lang="en-US" sz="1200" dirty="0"/>
          </a:p>
        </p:txBody>
      </p:sp>
      <p:sp>
        <p:nvSpPr>
          <p:cNvPr id="41" name="Text 30"/>
          <p:cNvSpPr/>
          <p:nvPr/>
        </p:nvSpPr>
        <p:spPr>
          <a:xfrm>
            <a:off x="8503920" y="5166360"/>
            <a:ext cx="3090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on build volume — sits on top of the existing Optimizely contract, never against it.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— JULY 23,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already ran end-to-end, on a live enterprise tenant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6949440" cy="2880360"/>
          </a:xfrm>
          <a:prstGeom prst="roundRect">
            <a:avLst>
              <a:gd name="adj" fmla="val 285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74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Outrigger Hotels &amp; Resorts — Room Detail Overlay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286000"/>
            <a:ext cx="6400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built a full room-detail overlay — modal, drag-scroll gallery, amenities accordion — data-joined to all 21 rooms from the page's own embedded JSON. No visual editor could produce it.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Brand-exact against the production SCSS: real fonts, tokens, and component classes, read from the customer's actual source tree.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Reviewed injected on prep.outrigger.com via a token-gated loader — before any experiment existed.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running as Variation #1 custom code in a real Optimizely Web Experiment. Verified live.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0" y="1691640"/>
            <a:ext cx="3867912" cy="649224"/>
          </a:xfrm>
          <a:prstGeom prst="roundRect">
            <a:avLst>
              <a:gd name="adj" fmla="val 1267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73568" y="1691640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days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555480" y="1691640"/>
            <a:ext cx="20116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 → running experiment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2436876"/>
            <a:ext cx="3867912" cy="649224"/>
          </a:xfrm>
          <a:prstGeom prst="roundRect">
            <a:avLst>
              <a:gd name="adj" fmla="val 1267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73568" y="2436876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 KB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555480" y="2436876"/>
            <a:ext cx="20116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self-contained, SHA-pinned variation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0" y="3182112"/>
            <a:ext cx="3867912" cy="649224"/>
          </a:xfrm>
          <a:prstGeom prst="roundRect">
            <a:avLst>
              <a:gd name="adj" fmla="val 1267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3568" y="3182112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rooms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555480" y="3182112"/>
            <a:ext cx="20116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data-joined · zero API calls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772400" y="3927348"/>
            <a:ext cx="3867912" cy="649224"/>
          </a:xfrm>
          <a:prstGeom prst="roundRect">
            <a:avLst>
              <a:gd name="adj" fmla="val 1267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73568" y="3927348"/>
            <a:ext cx="1554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55480" y="3927348"/>
            <a:ext cx="20116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variation code written by a human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892040"/>
            <a:ext cx="11091672" cy="1143000"/>
          </a:xfrm>
          <a:prstGeom prst="roundRect">
            <a:avLst>
              <a:gd name="adj" fmla="val 7200"/>
            </a:avLst>
          </a:prstGeom>
          <a:solidFill>
            <a:srgbClr val="0B1220"/>
          </a:solidFill>
          <a:ln w="12700">
            <a:solidFill>
              <a:srgbClr val="2A3A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074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0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/api/loader/status?key=room-detail-overlay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68680" y="53949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E6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"served": "9214134", "head": "9214134", "stale": false, "artifactProblem": null }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568756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truth, not vibes — everything the loop serves is verifiable and commit-pinned.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QUALITY NEEDS A GATE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passed review — and died in the custom-code box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31536" cy="2148840"/>
          </a:xfrm>
          <a:prstGeom prst="roundRect">
            <a:avLst>
              <a:gd name="adj" fmla="val 3830"/>
            </a:avLst>
          </a:prstGeom>
          <a:solidFill>
            <a:srgbClr val="18233B"/>
          </a:solidFill>
          <a:ln w="12700">
            <a:solidFill>
              <a:srgbClr val="2EE6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65960"/>
            <a:ext cx="438912" cy="438912"/>
          </a:xfrm>
          <a:prstGeom prst="ellipse">
            <a:avLst/>
          </a:prstGeom>
          <a:solidFill>
            <a:srgbClr val="2EE6A8"/>
          </a:solidFill>
          <a:ln/>
        </p:spPr>
      </p:sp>
      <p:pic>
        <p:nvPicPr>
          <p:cNvPr id="6" name="Image 0" descr="/private/tmp/claude-501/-Users-bryanhopkins-AIChat-resort-ai-chatbot/485380a5-5fbc-481a-aba5-950dd47c1f1d/scratchpad/deck/icons/chec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0003" y="2064715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965960"/>
            <a:ext cx="43342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our loader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2606040"/>
            <a:ext cx="4700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Injected after page load — libraries and data ready.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room CTAs wired. Fully functional.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08776" y="1691640"/>
            <a:ext cx="5431536" cy="2148840"/>
          </a:xfrm>
          <a:prstGeom prst="roundRect">
            <a:avLst>
              <a:gd name="adj" fmla="val 3830"/>
            </a:avLst>
          </a:prstGeom>
          <a:solidFill>
            <a:srgbClr val="18233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01384" y="1965960"/>
            <a:ext cx="438912" cy="438912"/>
          </a:xfrm>
          <a:prstGeom prst="ellipse">
            <a:avLst/>
          </a:prstGeom>
          <a:solidFill>
            <a:srgbClr val="FF6B6B"/>
          </a:solidFill>
          <a:ln/>
        </p:spPr>
      </p:sp>
      <p:pic>
        <p:nvPicPr>
          <p:cNvPr id="11" name="Image 1" descr="/private/tmp/claude-501/-Users-bryanhopkins-AIChat-resort-ai-chatbot/485380a5-5fbc-481a-aba5-950dd47c1f1d/scratchpad/deck/icons/x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139" y="2064715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077456" y="1965960"/>
            <a:ext cx="43342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 Optimizely — same code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74536" y="2606040"/>
            <a:ext cx="470001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Injected from &lt;head&gt; — before the page's libraries exist.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wired. “Failed to apply change.” Silent in production.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invisible failure modes, found live: an init() that bailed before dependencies arrived, and a wrapper appending to a &lt;body&gt; that didn't exist yet.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48640" y="4846320"/>
            <a:ext cx="11091672" cy="1051560"/>
          </a:xfrm>
          <a:prstGeom prst="roundRect">
            <a:avLst>
              <a:gd name="adj" fmla="val 7826"/>
            </a:avLst>
          </a:prstGeom>
          <a:solidFill>
            <a:srgbClr val="202E4E"/>
          </a:solidFill>
          <a:ln w="12700">
            <a:solidFill>
              <a:srgbClr val="FFC857"/>
            </a:solidFill>
            <a:prstDash val="solid"/>
          </a:ln>
        </p:spPr>
      </p:sp>
      <p:pic>
        <p:nvPicPr>
          <p:cNvPr id="16" name="Image 2" descr="/private/tmp/claude-501/-Users-bryanhopkins-AIChat-resort-ai-chatbot/485380a5-5fbc-481a-aba5-950dd47c1f1d/scratchpad/deck/icons/zap-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514807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4846320"/>
            <a:ext cx="99486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are now permanent, automated platform knowledge. </a:t>
            </a:r>
            <a:pPr indent="0" marL="0">
              <a:buNone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variation is tested under BOTH injection timings before it ships — the gate the custom-code box has never had.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plain-language brief to certified variation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31536" cy="1325880"/>
          </a:xfrm>
          <a:prstGeom prst="roundRect">
            <a:avLst>
              <a:gd name="adj" fmla="val 620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92808"/>
            <a:ext cx="402336" cy="402336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6" name="Image 0" descr="/private/tmp/claude-501/-Users-bryanhopkins-AIChat-resort-ai-chatbot/485380a5-5fbc-481a-aba5-950dd47c1f1d/scratchpad/deck/icons/edit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983334"/>
            <a:ext cx="221285" cy="22128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98448" y="1819656"/>
            <a:ext cx="451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Brief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298448" y="2148840"/>
            <a:ext cx="4471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writes it. If it's thin, the agent interviews the author. The console record is canonical.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08776" y="1691640"/>
            <a:ext cx="5431536" cy="1325880"/>
          </a:xfrm>
          <a:prstGeom prst="roundRect">
            <a:avLst>
              <a:gd name="adj" fmla="val 620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9944" y="1892808"/>
            <a:ext cx="402336" cy="402336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11" name="Image 1" descr="/private/tmp/claude-501/-Users-bryanhopkins-AIChat-resort-ai-chatbot/485380a5-5fbc-481a-aba5-950dd47c1f1d/scratchpad/deck/icons/cod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470" y="1983334"/>
            <a:ext cx="221285" cy="22128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58584" y="1819656"/>
            <a:ext cx="451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Agent builds in a real repo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6958584" y="2148840"/>
            <a:ext cx="4471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with the page's embedded data model, extracted brand tokens, read-only production source, and its skill set.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145536"/>
            <a:ext cx="5431536" cy="1325880"/>
          </a:xfrm>
          <a:prstGeom prst="roundRect">
            <a:avLst>
              <a:gd name="adj" fmla="val 620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3346704"/>
            <a:ext cx="402336" cy="402336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16" name="Image 2" descr="/private/tmp/claude-501/-Users-bryanhopkins-AIChat-resort-ai-chatbot/485380a5-5fbc-481a-aba5-950dd47c1f1d/scratchpad/deck/icons/eye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4" y="3437230"/>
            <a:ext cx="221285" cy="22128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98448" y="3273552"/>
            <a:ext cx="451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Review on the real environment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1298448" y="3602736"/>
            <a:ext cx="4471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token-gated loader injects the build on the customer's actual lower env. Stakeholders see the real page.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08776" y="3145536"/>
            <a:ext cx="5431536" cy="1325880"/>
          </a:xfrm>
          <a:prstGeom prst="roundRect">
            <a:avLst>
              <a:gd name="adj" fmla="val 620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9944" y="3346704"/>
            <a:ext cx="402336" cy="402336"/>
          </a:xfrm>
          <a:prstGeom prst="ellipse">
            <a:avLst/>
          </a:prstGeom>
          <a:solidFill>
            <a:srgbClr val="2EE6A8"/>
          </a:solidFill>
          <a:ln/>
        </p:spPr>
      </p:sp>
      <p:pic>
        <p:nvPicPr>
          <p:cNvPr id="21" name="Image 3" descr="/private/tmp/claude-501/-Users-bryanhopkins-AIChat-resort-ai-chatbot/485380a5-5fbc-481a-aba5-950dd47c1f1d/scratchpad/deck/icons/shield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470" y="3437230"/>
            <a:ext cx="221285" cy="22128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58584" y="3273552"/>
            <a:ext cx="451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Certify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6958584" y="3602736"/>
            <a:ext cx="4471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gate: dual injection timing, idempotency, re-render survival, zero-analytics, bundle budget.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599432"/>
            <a:ext cx="5431536" cy="1325880"/>
          </a:xfrm>
          <a:prstGeom prst="roundRect">
            <a:avLst>
              <a:gd name="adj" fmla="val 620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49808" y="4800600"/>
            <a:ext cx="402336" cy="402336"/>
          </a:xfrm>
          <a:prstGeom prst="ellipse">
            <a:avLst/>
          </a:prstGeom>
          <a:solidFill>
            <a:srgbClr val="2EE6A8"/>
          </a:solidFill>
          <a:ln/>
        </p:spPr>
      </p:sp>
      <p:pic>
        <p:nvPicPr>
          <p:cNvPr id="26" name="Image 4" descr="/private/tmp/claude-501/-Users-bryanhopkins-AIChat-resort-ai-chatbot/485380a5-5fbc-481a-aba5-950dd47c1f1d/scratchpad/deck/icons/send-whi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334" y="4891126"/>
            <a:ext cx="221285" cy="22128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298448" y="4727448"/>
            <a:ext cx="451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Ship by API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1298448" y="5056632"/>
            <a:ext cx="4471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SHA-pinned version pushed into the experiment's variation, read back and verified. No paste, ever.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208776" y="4599432"/>
            <a:ext cx="5431536" cy="1325880"/>
          </a:xfrm>
          <a:prstGeom prst="roundRect">
            <a:avLst>
              <a:gd name="adj" fmla="val 620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09944" y="4800600"/>
            <a:ext cx="402336" cy="402336"/>
          </a:xfrm>
          <a:prstGeom prst="ellipse">
            <a:avLst/>
          </a:prstGeom>
          <a:solidFill>
            <a:srgbClr val="FFC857"/>
          </a:solidFill>
          <a:ln/>
        </p:spPr>
      </p:sp>
      <p:pic>
        <p:nvPicPr>
          <p:cNvPr id="31" name="Image 5" descr="/private/tmp/claude-501/-Users-bryanhopkins-AIChat-resort-ai-chatbot/485380a5-5fbc-481a-aba5-950dd47c1f1d/scratchpad/deck/icons/pr-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470" y="4891126"/>
            <a:ext cx="221285" cy="22128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6958584" y="4727448"/>
            <a:ext cx="4517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Winner → production PR</a:t>
            </a:r>
            <a:endParaRPr lang="en-US" sz="1350" dirty="0"/>
          </a:p>
        </p:txBody>
      </p:sp>
      <p:sp>
        <p:nvSpPr>
          <p:cNvPr id="33" name="Text 25"/>
          <p:cNvSpPr/>
          <p:nvPr/>
        </p:nvSpPr>
        <p:spPr>
          <a:xfrm>
            <a:off x="6958584" y="5056632"/>
            <a:ext cx="44714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productionizes the winning variation into the real source tree. Humans review and merge.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48640" y="61722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discipline throughout: the console owns context and skills · the agent owns src and the built artifact · production source is read-only · nothing merges without a human.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PROGRAM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board that reads ground truth — not sticky notes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764792" cy="2377440"/>
          </a:xfrm>
          <a:prstGeom prst="roundRect">
            <a:avLst>
              <a:gd name="adj" fmla="val 4663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8288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Backlog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76656" y="224028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2402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booking bar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68096" y="289864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PDP social proof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14016" y="1737360"/>
            <a:ext cx="1764792" cy="2377440"/>
          </a:xfrm>
          <a:prstGeom prst="roundRect">
            <a:avLst>
              <a:gd name="adj" fmla="val 4663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0" y="18288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2542032" y="224028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33472" y="22402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upsell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633472" y="289864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sign-off pending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9392" y="1737360"/>
            <a:ext cx="1764792" cy="2377440"/>
          </a:xfrm>
          <a:prstGeom prst="roundRect">
            <a:avLst>
              <a:gd name="adj" fmla="val 4663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25696" y="18288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407408" y="224028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98848" y="22402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 planner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498848" y="289864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agent engaged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44768" y="1737360"/>
            <a:ext cx="1764792" cy="2377440"/>
          </a:xfrm>
          <a:prstGeom prst="roundRect">
            <a:avLst>
              <a:gd name="adj" fmla="val 4663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91072" y="18288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72784" y="224028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4224" y="22402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 simplification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364224" y="289864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 approvals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010144" y="1737360"/>
            <a:ext cx="1764792" cy="2377440"/>
          </a:xfrm>
          <a:prstGeom prst="roundRect">
            <a:avLst>
              <a:gd name="adj" fmla="val 4663"/>
            </a:avLst>
          </a:prstGeom>
          <a:solidFill>
            <a:srgbClr val="18233B"/>
          </a:solidFill>
          <a:ln w="12700">
            <a:solidFill>
              <a:srgbClr val="FFC857"/>
            </a:solidFill>
            <a:prstDash val="solid"/>
          </a:ln>
        </p:spPr>
      </p:sp>
      <p:pic>
        <p:nvPicPr>
          <p:cNvPr id="25" name="Image 0" descr="/private/tmp/claude-501/-Users-bryanhopkins-AIChat-resort-ai-chatbot/485380a5-5fbc-481a-aba5-950dd47c1f1d/scratchpad/deck/icons/lock-go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0888" y="1883664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8156448" y="18288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138160" y="224028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229600" y="22402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 overlay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8229600" y="289864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LOCKED · live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9875520" y="1737360"/>
            <a:ext cx="1764792" cy="2377440"/>
          </a:xfrm>
          <a:prstGeom prst="roundRect">
            <a:avLst>
              <a:gd name="adj" fmla="val 4663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021824" y="1828800"/>
            <a:ext cx="1261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10003536" y="2240280"/>
            <a:ext cx="1508760" cy="566928"/>
          </a:xfrm>
          <a:prstGeom prst="roundRect">
            <a:avLst>
              <a:gd name="adj" fmla="val 1451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94976" y="224028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CTA v2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094976" y="2898648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merged PR #214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548640" y="443484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advance and lock from real system state — provision, build, certification, the experiment's live status from the Optimizely API, the merged PR. Not from someone dragging a card.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Sign-off gates exactly where human judgment lives: brief approval before build, review approval before ship.</a:t>
            </a:r>
            <a:endParaRPr lang="en-US" sz="13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and primary metric on every card — the experimentation discipline most teams never had, built into the workflow.</a:t>
            </a:r>
            <a:endParaRPr lang="en-US" sz="1350" dirty="0"/>
          </a:p>
        </p:txBody>
      </p:sp>
      <p:sp>
        <p:nvSpPr>
          <p:cNvPr id="36" name="Text 33"/>
          <p:cNvSpPr/>
          <p:nvPr/>
        </p:nvSpPr>
        <p:spPr>
          <a:xfrm>
            <a:off x="548640" y="6080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— but it's the accelerator for every team that has never run a structured testing program.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platform gets smarter every time it's used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31536" cy="1481328"/>
          </a:xfrm>
          <a:prstGeom prst="roundRect">
            <a:avLst>
              <a:gd name="adj" fmla="val 555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11096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6" name="Image 0" descr="/private/tmp/claude-501/-Users-bryanhopkins-AIChat-resort-ai-chatbot/485380a5-5fbc-481a-aba5-950dd47c1f1d/scratchpad/deck/icons/boo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448" y="2005736"/>
            <a:ext cx="231343" cy="23134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856232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library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325880" y="2203704"/>
            <a:ext cx="4425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Versioned instructions agents load on wake — generic, per-brand, per-prototype. Platform packs (Optimizely Web, Optimizely CMS) compound expertise.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691640"/>
            <a:ext cx="5431536" cy="1481328"/>
          </a:xfrm>
          <a:prstGeom prst="roundRect">
            <a:avLst>
              <a:gd name="adj" fmla="val 555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9944" y="1911096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11" name="Image 1" descr="/private/tmp/claude-501/-Users-bryanhopkins-AIChat-resort-ai-chatbot/485380a5-5fbc-481a-aba5-950dd47c1f1d/scratchpad/deck/icons/chat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4584" y="2005736"/>
            <a:ext cx="231343" cy="23134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86016" y="1856232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channel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986016" y="2203704"/>
            <a:ext cx="4425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file friction and proposals from inside the work, attributed to the prototype. Triage feeds the backlog.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319272"/>
            <a:ext cx="5431536" cy="1481328"/>
          </a:xfrm>
          <a:prstGeom prst="roundRect">
            <a:avLst>
              <a:gd name="adj" fmla="val 555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49808" y="3538728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16" name="Image 2" descr="/private/tmp/claude-501/-Users-bryanhopkins-AIChat-resort-ai-chatbot/485380a5-5fbc-481a-aba5-950dd47c1f1d/scratchpad/deck/icons/refresh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448" y="3633368"/>
            <a:ext cx="231343" cy="23134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25880" y="3483864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Retrospectives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325880" y="3831336"/>
            <a:ext cx="4425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each ship, sessions become proposed skill updates and new certification checks — human-approved.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208776" y="3319272"/>
            <a:ext cx="5431536" cy="1481328"/>
          </a:xfrm>
          <a:prstGeom prst="roundRect">
            <a:avLst>
              <a:gd name="adj" fmla="val 555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09944" y="3538728"/>
            <a:ext cx="420624" cy="420624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21" name="Image 3" descr="/private/tmp/claude-501/-Users-bryanhopkins-AIChat-resort-ai-chatbot/485380a5-5fbc-481a-aba5-950dd47c1f1d/scratchpad/deck/icons/cpu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4584" y="3633368"/>
            <a:ext cx="231343" cy="23134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86016" y="3483864"/>
            <a:ext cx="44714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Self-syncing agents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986016" y="3831336"/>
            <a:ext cx="4425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fresh agent wakes oriented: reads the system model, checks sync status, heals its own drift. Zero briefing.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48640" y="5029200"/>
            <a:ext cx="11091672" cy="960120"/>
          </a:xfrm>
          <a:prstGeom prst="roundRect">
            <a:avLst>
              <a:gd name="adj" fmla="val 8571"/>
            </a:avLst>
          </a:prstGeom>
          <a:solidFill>
            <a:srgbClr val="202E4E"/>
          </a:solidFill>
          <a:ln w="12700">
            <a:solidFill>
              <a:srgbClr val="2EE6A8"/>
            </a:solidFill>
            <a:prstDash val="solid"/>
          </a:ln>
        </p:spPr>
      </p:sp>
      <p:pic>
        <p:nvPicPr>
          <p:cNvPr id="25" name="Image 4" descr="/private/tmp/claude-501/-Users-bryanhopkins-AIChat-resort-ai-chatbot/485380a5-5fbc-481a-aba5-950dd47c1f1d/scratchpad/deck/icons/activity-mi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303520"/>
            <a:ext cx="402336" cy="40233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5029200"/>
            <a:ext cx="9948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observed, same-day: </a:t>
            </a:r>
            <a:pPr indent="0" marL="0">
              <a:buNone/>
            </a:pPr>
            <a:r>
              <a:rPr lang="en-US" sz="14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agent's feedback from inside a build became a shipped platform fix — inherited by every session after it. This flywheel can't be rebuilt by fiat; it has to be lived.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FEATURE YOUR PLATFORM IS MISSING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Certified Variations — a quality gate for custom code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5" name="Image 0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15568" y="16916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injection timing — early &lt;head&gt; AND post-load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08776" y="16916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8" name="Image 1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1656" y="1847088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775704" y="16916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— runs twice, applies once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3774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11" name="Image 2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532888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15568" y="23774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page re-renders (MutationObserver)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208776" y="23774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14" name="Image 3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1656" y="2532888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775704" y="23774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analytics or tracking added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30632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17" name="Image 4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3218688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15568" y="30632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Same-origin assets only — nothing external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6208776" y="30632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20" name="Image 5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1656" y="3218688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775704" y="30632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budget + flicker / CLS estimate</a:t>
            </a:r>
            <a:endParaRPr lang="en-US" sz="1250" dirty="0"/>
          </a:p>
        </p:txBody>
      </p:sp>
      <p:sp>
        <p:nvSpPr>
          <p:cNvPr id="22" name="Shape 14"/>
          <p:cNvSpPr/>
          <p:nvPr/>
        </p:nvSpPr>
        <p:spPr>
          <a:xfrm>
            <a:off x="548640" y="37490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23" name="Image 6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3904488"/>
            <a:ext cx="256032" cy="256032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1115568" y="37490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Multi-viewport screenshot matrix</a:t>
            </a:r>
            <a:endParaRPr lang="en-US" sz="1250" dirty="0"/>
          </a:p>
        </p:txBody>
      </p:sp>
      <p:sp>
        <p:nvSpPr>
          <p:cNvPr id="25" name="Shape 16"/>
          <p:cNvSpPr/>
          <p:nvPr/>
        </p:nvSpPr>
        <p:spPr>
          <a:xfrm>
            <a:off x="6208776" y="3749040"/>
            <a:ext cx="5431536" cy="566928"/>
          </a:xfrm>
          <a:prstGeom prst="roundRect">
            <a:avLst>
              <a:gd name="adj" fmla="val 14516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pic>
        <p:nvPicPr>
          <p:cNvPr id="26" name="Image 7" descr="/private/tmp/claude-501/-Users-bryanhopkins-AIChat-resort-ai-chatbot/485380a5-5fbc-481a-aba5-950dd47c1f1d/scratchpad/deck/icons/check-min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1656" y="3904488"/>
            <a:ext cx="256032" cy="2560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775704" y="3749040"/>
            <a:ext cx="47000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SHA-pinned provenance — review-bytes = ship-bytes</a:t>
            </a:r>
            <a:endParaRPr lang="en-US" sz="1250" dirty="0"/>
          </a:p>
        </p:txBody>
      </p:sp>
      <p:sp>
        <p:nvSpPr>
          <p:cNvPr id="28" name="Shape 18"/>
          <p:cNvSpPr/>
          <p:nvPr/>
        </p:nvSpPr>
        <p:spPr>
          <a:xfrm>
            <a:off x="548640" y="466344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202E4E"/>
          </a:solidFill>
          <a:ln w="12700">
            <a:solidFill>
              <a:srgbClr val="2EE6A8"/>
            </a:solidFill>
            <a:prstDash val="solid"/>
          </a:ln>
        </p:spPr>
      </p:sp>
      <p:pic>
        <p:nvPicPr>
          <p:cNvPr id="29" name="Image 8" descr="/private/tmp/claude-501/-Users-bryanhopkins-AIChat-resort-ai-chatbot/485380a5-5fbc-481a-aba5-950dd47c1f1d/scratchpad/deck/icons/award-mint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" y="5138928"/>
            <a:ext cx="457200" cy="457200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1463040" y="4663440"/>
            <a:ext cx="9902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buys Optimizely:  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silent failures and support tickets on custom code  ·  a trust badge in the variation editor  ·  the confidence to sell customers on bigger, bolder experiments.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 BY CONSTRUCTION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layer that completes Opal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31536" cy="2651760"/>
          </a:xfrm>
          <a:prstGeom prst="roundRect">
            <a:avLst>
              <a:gd name="adj" fmla="val 3103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Opal today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791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Ideates, orchestrates, and generates — inside the visual-editor ceiling.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is client-side variations of editor-expressible changes.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path from a winning variation to production source.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08776" y="1691640"/>
            <a:ext cx="5431536" cy="2651760"/>
          </a:xfrm>
          <a:prstGeom prst="roundRect">
            <a:avLst>
              <a:gd name="adj" fmla="val 3103"/>
            </a:avLst>
          </a:prstGeom>
          <a:solidFill>
            <a:srgbClr val="18233B"/>
          </a:solidFill>
          <a:ln w="12700">
            <a:solidFill>
              <a:srgbClr val="4D8D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8816" y="1920240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Opal + the authoring layer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28816" y="2423160"/>
            <a:ext cx="479145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Anything buildable in code — interactive, data-backed, design-system-true.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variation certified before it ships. Every ship API-verified.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Winners graduate into pull requests in the customer's own repo.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4617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integration writes itself: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5029200"/>
            <a:ext cx="2724912" cy="868680"/>
          </a:xfrm>
          <a:prstGeom prst="roundRect">
            <a:avLst>
              <a:gd name="adj" fmla="val 9474"/>
            </a:avLst>
          </a:prstGeom>
          <a:solidFill>
            <a:srgbClr val="202E4E"/>
          </a:solidFill>
          <a:ln w="12700">
            <a:solidFill>
              <a:srgbClr val="2A3A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5029200"/>
            <a:ext cx="239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 inside the Optimizely UI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364992" y="5029200"/>
            <a:ext cx="2724912" cy="868680"/>
          </a:xfrm>
          <a:prstGeom prst="roundRect">
            <a:avLst>
              <a:gd name="adj" fmla="val 9474"/>
            </a:avLst>
          </a:prstGeom>
          <a:solidFill>
            <a:srgbClr val="202E4E"/>
          </a:solidFill>
          <a:ln w="12700">
            <a:solidFill>
              <a:srgbClr val="2A3A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9584" y="5029200"/>
            <a:ext cx="239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 rides your snippet — zero site access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81344" y="5029200"/>
            <a:ext cx="2724912" cy="868680"/>
          </a:xfrm>
          <a:prstGeom prst="roundRect">
            <a:avLst>
              <a:gd name="adj" fmla="val 9474"/>
            </a:avLst>
          </a:prstGeom>
          <a:solidFill>
            <a:srgbClr val="202E4E"/>
          </a:solidFill>
          <a:ln w="12700">
            <a:solidFill>
              <a:srgbClr val="2A3A5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45936" y="5029200"/>
            <a:ext cx="239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“Certified” badge in the variation editor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97696" y="5029200"/>
            <a:ext cx="2724912" cy="868680"/>
          </a:xfrm>
          <a:prstGeom prst="roundRect">
            <a:avLst>
              <a:gd name="adj" fmla="val 9474"/>
            </a:avLst>
          </a:prstGeom>
          <a:solidFill>
            <a:srgbClr val="202E4E"/>
          </a:solidFill>
          <a:ln w="12700">
            <a:solidFill>
              <a:srgbClr val="2A3A5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288" y="5029200"/>
            <a:ext cx="23957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Opal calls our agents over MCP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C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MONEY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experiments cost $20K each — or never happen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06624" cy="1737360"/>
          </a:xfrm>
          <a:prstGeom prst="roundRect">
            <a:avLst>
              <a:gd name="adj" fmla="val 473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$20K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2340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 cost of a custom-coded experiment today (agency or dev team)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55848" y="1691640"/>
            <a:ext cx="2706624" cy="1737360"/>
          </a:xfrm>
          <a:prstGeom prst="roundRect">
            <a:avLst>
              <a:gd name="adj" fmla="val 473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187452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10–30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3538728" y="2606040"/>
            <a:ext cx="2340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dev-hours per experiment, before QA and rework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63056" y="1691640"/>
            <a:ext cx="2706624" cy="1737360"/>
          </a:xfrm>
          <a:prstGeom prst="roundRect">
            <a:avLst>
              <a:gd name="adj" fmla="val 473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45936" y="187452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$5–10B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6345936" y="2606040"/>
            <a:ext cx="2340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CRO-services and implementation pool we displace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70264" y="1691640"/>
            <a:ext cx="2706624" cy="1737360"/>
          </a:xfrm>
          <a:prstGeom prst="roundRect">
            <a:avLst>
              <a:gd name="adj" fmla="val 4737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53144" y="1874520"/>
            <a:ext cx="23408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 day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53144" y="2606040"/>
            <a:ext cx="2340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brief-to-live-experiment target, agent-built and certified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49040"/>
            <a:ext cx="11091672" cy="2194560"/>
          </a:xfrm>
          <a:prstGeom prst="roundRect">
            <a:avLst>
              <a:gd name="adj" fmla="val 3750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3931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does for Optimizely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343400"/>
            <a:ext cx="104515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revenue — customers run bigger, more ambitious experiments when authoring stops being the bottleneck.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support burden — certified custom code replaces the platform's most failure-prone surface.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Stickiness — experiments become durable code assets and institutional memory wired to your platform.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story enterprise buyers are asking every vendor for — with working product behind it.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PROTOTYPE TO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phases, each with a falsifiable exit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06624" cy="3977640"/>
          </a:xfrm>
          <a:prstGeom prst="roundRect">
            <a:avLst>
              <a:gd name="adj" fmla="val 3041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874520"/>
            <a:ext cx="23042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Kill the sharp edges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49808" y="248716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0–6 weeks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834640"/>
            <a:ext cx="2304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App onboarding · API push, no paste · site compatibility check · certification v1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94944" y="4434840"/>
            <a:ext cx="2414016" cy="1051560"/>
          </a:xfrm>
          <a:prstGeom prst="roundRect">
            <a:avLst>
              <a:gd name="adj" fmla="val 782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434840"/>
            <a:ext cx="21579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</a:t>
            </a:r>
            <a:pPr indent="0" marL="0">
              <a:buNone/>
            </a:pPr>
            <a:r>
              <a:rPr lang="en-US" sz="10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stranger onboards, builds, and ships without us in the room.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55848" y="1691640"/>
            <a:ext cx="2706624" cy="3977640"/>
          </a:xfrm>
          <a:prstGeom prst="roundRect">
            <a:avLst>
              <a:gd name="adj" fmla="val 3041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57016" y="1874520"/>
            <a:ext cx="23042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Anyone can use it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557016" y="248716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6–14 weeks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57016" y="2834640"/>
            <a:ext cx="2304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build agents · console chat · program board · tenant #2 live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502152" y="4434840"/>
            <a:ext cx="2414016" cy="1051560"/>
          </a:xfrm>
          <a:prstGeom prst="roundRect">
            <a:avLst>
              <a:gd name="adj" fmla="val 782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30168" y="4434840"/>
            <a:ext cx="21579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</a:t>
            </a:r>
            <a:pPr indent="0" marL="0">
              <a:buNone/>
            </a:pPr>
            <a:r>
              <a:rPr lang="en-US" sz="10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non-developer ships a certified experiment entirely from the browser.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63056" y="1691640"/>
            <a:ext cx="2706624" cy="3977640"/>
          </a:xfrm>
          <a:prstGeom prst="roundRect">
            <a:avLst>
              <a:gd name="adj" fmla="val 3041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64224" y="1874520"/>
            <a:ext cx="23042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The loop compounds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364224" y="248716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3–6 months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64224" y="2834640"/>
            <a:ext cx="2304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→ PR on React · results read-back · retrospective agents · connector #2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4434840"/>
            <a:ext cx="2414016" cy="1051560"/>
          </a:xfrm>
          <a:prstGeom prst="roundRect">
            <a:avLst>
              <a:gd name="adj" fmla="val 782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37376" y="4434840"/>
            <a:ext cx="21579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</a:t>
            </a:r>
            <a:pPr indent="0" marL="0">
              <a:buNone/>
            </a:pPr>
            <a:r>
              <a:rPr lang="en-US" sz="10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winner merges as a production PR on a non-.NET stack; case study published.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970264" y="1691640"/>
            <a:ext cx="2706624" cy="3977640"/>
          </a:xfrm>
          <a:prstGeom prst="roundRect">
            <a:avLst>
              <a:gd name="adj" fmla="val 3041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71432" y="1874520"/>
            <a:ext cx="23042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Enterprise-ready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171432" y="248716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6–12 months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71432" y="2834640"/>
            <a:ext cx="23042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2 underway · SSO/SCIM · loader hardening · billing + metering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116568" y="4434840"/>
            <a:ext cx="2414016" cy="1051560"/>
          </a:xfrm>
          <a:prstGeom prst="roundRect">
            <a:avLst>
              <a:gd name="adj" fmla="val 7826"/>
            </a:avLst>
          </a:prstGeom>
          <a:solidFill>
            <a:srgbClr val="202E4E"/>
          </a:solidFill>
          <a:ln w="12700">
            <a:solidFill>
              <a:srgbClr val="202E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244584" y="4434840"/>
            <a:ext cx="21579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</a:t>
            </a:r>
            <a:pPr indent="0" marL="0">
              <a:buNone/>
            </a:pPr>
            <a:r>
              <a:rPr lang="en-US" sz="100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Diligence-ready: connectors, logo, metrics dashboard proving the thesis.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 rule: nothing in Phase 2+ starts while a Phase-1 sharp edge still exists.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D8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WINDOW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 — and why the timing is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31536" cy="3657600"/>
          </a:xfrm>
          <a:prstGeom prst="roundRect">
            <a:avLst>
              <a:gd name="adj" fmla="val 2250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920240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us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423160"/>
            <a:ext cx="479145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live agent-native loop — working product on a real enterprise tenant, not deck-ware.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deepest Optimizely-CMS source-awareness anywhere: prototype-to-source resolution proven on a production ASP.NET codebase.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learning flywheel is already spinning — skills, ideas, retrospectives, self-syncing agents.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framing ready: agent-native experiment authoring is unclaimed.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08776" y="1691640"/>
            <a:ext cx="5431536" cy="3657600"/>
          </a:xfrm>
          <a:prstGeom prst="roundRect">
            <a:avLst>
              <a:gd name="adj" fmla="val 2250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28816" y="1920240"/>
            <a:ext cx="4791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28816" y="2423160"/>
            <a:ext cx="479145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experimentation is this year's race — Opal, VWO Copilot, AB Tasty Evi — and all of it lives inside the editor ceiling.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authoring-and-shipping layer will exist. The open question is whether it's built with you or around you.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building neutral: multi-connector by design. Comparable tuck-ins: Intellimize (eight figures), NetSpring (~$40M).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C9D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on certification becomes the industry's de-facto quality bar.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548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run this loop on your customers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21024" cy="2377440"/>
          </a:xfrm>
          <a:prstGeom prst="roundRect">
            <a:avLst>
              <a:gd name="adj" fmla="val 3462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993392"/>
            <a:ext cx="475488" cy="475488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6" name="Image 0" descr="/private/tmp/claude-501/-Users-bryanhopkins-AIChat-resort-ai-chatbot/485380a5-5fbc-481a-aba5-950dd47c1f1d/scratchpad/deck/icons/user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7" y="2100377"/>
            <a:ext cx="261518" cy="26151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Design-partner pilot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04672" y="3090672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Optimizely Web customers, 90 days, fully instrumented: time-to-live-experiment, certification pass rate, native-ship rate.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83964" y="1737360"/>
            <a:ext cx="3621024" cy="2377440"/>
          </a:xfrm>
          <a:prstGeom prst="roundRect">
            <a:avLst>
              <a:gd name="adj" fmla="val 3462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39996" y="1993392"/>
            <a:ext cx="475488" cy="475488"/>
          </a:xfrm>
          <a:prstGeom prst="ellipse">
            <a:avLst/>
          </a:prstGeom>
          <a:solidFill>
            <a:srgbClr val="4D8DFF"/>
          </a:solidFill>
          <a:ln/>
        </p:spPr>
      </p:sp>
      <p:pic>
        <p:nvPicPr>
          <p:cNvPr id="11" name="Image 1" descr="/private/tmp/claude-501/-Users-bryanhopkins-AIChat-resort-ai-chatbot/485380a5-5fbc-481a-aba5-950dd47c1f1d/scratchpad/deck/icons/cpu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2100377"/>
            <a:ext cx="261518" cy="26151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39996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Opal + MCP interop workshop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539996" y="3090672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our build agents into Opal's orchestration — “beyond the editor” as an Opal capability, not a competitor.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19288" y="1737360"/>
            <a:ext cx="3621024" cy="2377440"/>
          </a:xfrm>
          <a:prstGeom prst="roundRect">
            <a:avLst>
              <a:gd name="adj" fmla="val 3462"/>
            </a:avLst>
          </a:prstGeom>
          <a:solidFill>
            <a:srgbClr val="18233B"/>
          </a:solidFill>
          <a:ln w="12700">
            <a:solidFill>
              <a:srgbClr val="18233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75320" y="1993392"/>
            <a:ext cx="475488" cy="475488"/>
          </a:xfrm>
          <a:prstGeom prst="ellipse">
            <a:avLst/>
          </a:prstGeom>
          <a:solidFill>
            <a:srgbClr val="2EE6A8"/>
          </a:solidFill>
          <a:ln/>
        </p:spPr>
      </p:sp>
      <p:pic>
        <p:nvPicPr>
          <p:cNvPr id="16" name="Image 2" descr="/private/tmp/claude-501/-Users-bryanhopkins-AIChat-resort-ai-chatbot/485380a5-5fbc-481a-aba5-950dd47c1f1d/scratchpad/deck/icons/target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305" y="2100377"/>
            <a:ext cx="261518" cy="26151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75320" y="2697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Build-vs-buy conversation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275320" y="3090672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CA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product leadership, after the pilot data lands. We'll bring the metrics; you bring the roadmap.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48640" y="4572000"/>
            <a:ext cx="11091672" cy="1371600"/>
          </a:xfrm>
          <a:prstGeom prst="roundRect">
            <a:avLst>
              <a:gd name="adj" fmla="val 6000"/>
            </a:avLst>
          </a:prstGeom>
          <a:solidFill>
            <a:srgbClr val="202E4E"/>
          </a:solidFill>
          <a:ln w="12700">
            <a:solidFill>
              <a:srgbClr val="2EE6A8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914400" y="48006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product. Live tenant. The loop closed July 23, 2026 — and it gets smarter every session.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E6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 Hopkins  ·  INHQ  ·  bryan@inhq.com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Agent-Native Experiment Authoring Layer</dc:title>
  <dc:subject>PptxGenJS Presentation</dc:subject>
  <dc:creator>INHQ</dc:creator>
  <cp:lastModifiedBy>INHQ</cp:lastModifiedBy>
  <cp:revision>1</cp:revision>
  <dcterms:created xsi:type="dcterms:W3CDTF">2026-07-23T19:40:09Z</dcterms:created>
  <dcterms:modified xsi:type="dcterms:W3CDTF">2026-07-23T19:40:09Z</dcterms:modified>
</cp:coreProperties>
</file>