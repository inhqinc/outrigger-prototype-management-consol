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the layer experimentation platforms are missing on both sides of the test: authoring beyond the visual editor, and shipping winners as production code. Working product, live enterprise tenant, loop closed end-to-end July 23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gaps sit OUTSIDE the platform's core competency (traffic, stats, winner declaration). Opal, VWO Copilot and AB Tasty Evi all generate inside the same editor ceiling — none of them solve authoring depth or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discipline: we are not an A/B testing tool. We are the build-and-ship layer. This keeps every experimentation vendor a potential partner or acquirer instead of a competitor.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deck-ware. The full loop — brief, agent build, real-env review, certification lesson, API-verified ship — ran on a real hospitality enterprise tenant and is live in an Optimizely Web Experiment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story is the moat in miniature: a failure no human predicted, caught live, encoded into the platform (skill guidance + template fix + automated check) the same day. Every prototype after this one inherits the 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hood: capture derives the page's data islands and design tokens automatically; skills are versioned instructions agents load on wake; every artifact is SHA-pinned so review-bytes equal ship-bytes.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prototype in Testing is immutable — the board state is derived from the experiment actually running, so nobody edits a live variation. This turns the tool from a build utility into the management layer for the whole experimentation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learning loop is the asset an acquirer cannot shortcut: the skills encode failures actually paid for, and quality compounds with usage. Copying features doesn't copy the accumulated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check encodes a real failure we personally hit in production. This is the slide an Optimizely PM demos internally the week after close — the custom-code box is their highest-support-cost, lowest-trust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quote is verbatim from Optimizely's current support documentation (July 2026). Opal runs on Gemini + Claude via Vertex; its authoring is editor-bound, its MCP excludes variation code, and its generated code is explicitly unsupported. We are the layer their own scope decisions left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price on displaced dev-labor and build volume, not on testing — so the sale lands on top of the existing platform contract. The experiments that never happened are the hidden 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entirely about removing insider knowledge from the product. Phase 2's hosted agents are the 'anyone can use it' unlock. Phases 3-4 are the acquisition-readiness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Respectful pressure: the neutral, multi-connector design means this layer serves the whole ecosystem — LaunchDarkly and Amplitude conversations run in parallel. We would rather build it with Optimizely.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proof and momentum. The pilot is designed to produce the acquisition metrics regardless of outcome — the data has standalone value for the fundraise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7.png"/><Relationship Id="rId9" Type="http://schemas.openxmlformats.org/officeDocument/2006/relationships/image" Target="../media/image-3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OPTIMIZELY  ·  CONFIDENTIAL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Agent-Native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Authoring Layer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beyond the editor.  Certify every variation.  Ship every winner.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6" name="Image 0" descr="/private/tmp/claude-501/-Users-bryanhopkins-AIChat-resort-ai-chatbot/485380a5-5fbc-481a-aba5-950dd47c1f1d/scratchpad/deck/icons/edit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681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52628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87168" y="452628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98064" y="45262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10" name="Image 1" descr="/private/tmp/claude-501/-Users-bryanhopkins-AIChat-resort-ai-chatbot/485380a5-5fbc-481a-aba5-950dd47c1f1d/scratchpad/deck/icons/cod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4681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55264" y="452628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36592" y="452628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47488" y="45262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14" name="Image 2" descr="/private/tmp/claude-501/-Users-bryanhopkins-AIChat-resort-ai-chatbot/485380a5-5fbc-481a-aba5-950dd47c1f1d/scratchpad/deck/icons/eye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46817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04688" y="452628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986016" y="452628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296912" y="45262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18" name="Image 3" descr="/private/tmp/claude-501/-Users-bryanhopkins-AIChat-resort-ai-chatbot/485380a5-5fbc-481a-aba5-950dd47c1f1d/scratchpad/deck/icons/shield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68172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54112" y="452628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&amp; Ship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235440" y="452628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546336" y="4526280"/>
            <a:ext cx="195681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22" name="Image 4" descr="/private/tmp/claude-501/-Users-bryanhopkins-AIChat-resort-ai-chatbot/485380a5-5fbc-481a-aba5-950dd47c1f1d/scratchpad/deck/icons/refresh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68172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03536" y="452628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OPMC (working name)   ·   Live on Outrigger Hotels &amp; Resorts   · 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experimentation platform has the same two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31536" cy="3566160"/>
          </a:xfrm>
          <a:prstGeom prst="roundRect">
            <a:avLst>
              <a:gd name="adj" fmla="val 2308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75488" cy="475488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665" y="2118665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authoring ceiling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00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editors cap out at headline swaps and color changes.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Interactive, data-backed, design-system-true experiences are painful or impossible to build inside them.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ambitious experiments get hand-coded off to the side — or never happen at all.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08776" y="1691640"/>
            <a:ext cx="5431536" cy="3566160"/>
          </a:xfrm>
          <a:prstGeom prst="roundRect">
            <a:avLst>
              <a:gd name="adj" fmla="val 2308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28816" y="2011680"/>
            <a:ext cx="475488" cy="47548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1" descr="/private/tmp/claude-501/-Users-bryanhopkins-AIChat-resort-ai-chatbot/485380a5-5fbc-481a-aba5-950dd47c1f1d/scratchpad/deck/icons/sen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01" y="2118665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8896" y="2020824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shipping gap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74536" y="2743200"/>
            <a:ext cx="4700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live forever as stranded client-side JavaScript — the production rebuild rarely happens.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custom-code box has zero quality gate: silent failures, flicker, support tickets.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instruments the cost from “winner declared” to “merged in production.”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the highest-value experiments are the least likely to be built — and the least likely to ship.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bracket your platform — we don't compete with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0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edi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872" y="201488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50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277977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writes the brief — PM, marketer, dev.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173736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53512" y="1920240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1" name="Image 1" descr="/private/tmp/claude-501/-Users-bryanhopkins-AIChat-resort-ai-chatbot/485380a5-5fbc-481a-aba5-950dd47c1f1d/scratchpad/deck/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152" y="2014880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2450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53512" y="277977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authors in a real repo: components, data, brand tokens.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0" y="173736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93792" y="1920240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6" name="Image 2" descr="/private/tmp/claude-501/-Users-bryanhopkins-AIChat-resort-ai-chatbot/485380a5-5fbc-481a-aba5-950dd47c1f1d/scratchpad/deck/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432" y="2014880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2450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93792" y="277977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on the customer's real environment. Before any experiment.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69480" y="173736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34072" y="1920240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1" name="Image 3" descr="/private/tmp/claude-501/-Users-bryanhopkins-AIChat-resort-ai-chatbot/485380a5-5fbc-481a-aba5-950dd47c1f1d/scratchpad/deck/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712" y="2014880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2450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&amp; Ship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34072" y="277977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QA gate, then pushed to Optimizely by API.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09760" y="173736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74352" y="1920240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6" name="Image 4" descr="/private/tmp/claude-501/-Users-bryanhopkins-AIChat-resort-ai-chatbot/485380a5-5fbc-481a-aba5-950dd47c1f1d/scratchpad/deck/icons/refres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992" y="2014880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74352" y="245059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74352" y="277977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session's friction becomes platform knowledge.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40233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30" name="Image 5" descr="/private/tmp/claude-501/-Users-bryanhopkins-AIChat-resort-ai-chatbot/485380a5-5fbc-481a-aba5-950dd47c1f1d/scratchpad/deck/icons/target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33672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25880" y="4023360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Optimizely runs the test.</a:t>
            </a:r>
            <a:pPr indent="0" marL="0">
              <a:buNone/>
            </a:pPr>
            <a:r>
              <a:rPr lang="en-US" sz="15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Traffic, stats, targeting, winner declaration — untouched. We plug in on either side of it.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548640" y="516636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33" name="Image 6" descr="/private/tmp/claude-501/-Users-bryanhopkins-AIChat-resort-ai-chatbot/485380a5-5fbc-481a-aba5-950dd47c1f1d/scratchpad/deck/icons/x-co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276088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24128" y="5166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stats engine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3154680" y="516636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36" name="Image 7" descr="/private/tmp/claude-501/-Users-bryanhopkins-AIChat-resort-ai-chatbot/485380a5-5fbc-481a-aba5-950dd47c1f1d/scratchpad/deck/icons/x-cor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5276088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630168" y="5166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traffic splitting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760720" y="516636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pic>
        <p:nvPicPr>
          <p:cNvPr id="39" name="Image 8" descr="/private/tmp/claude-501/-Users-bryanhopkins-AIChat-resort-ai-chatbot/485380a5-5fbc-481a-aba5-950dd47c1f1d/scratchpad/deck/icons/x-cor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5312" y="5276088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236208" y="5166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winner declaration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8503920" y="516636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on build volume — sits on top of the existing Optimizely contract, never against 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— JULY 23,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already ran end-to-end, on a live enterprise tenant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2880360"/>
          </a:xfrm>
          <a:prstGeom prst="roundRect">
            <a:avLst>
              <a:gd name="adj" fmla="val 285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Outrigger Hotels &amp; Resorts — Room Detail Overlay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built a full room-detail overlay — modal, drag-scroll gallery, amenities accordion — data-joined to all 21 rooms from the page's own embedded JSON. No visual editor could produce it.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Brand-exact against the production SCSS: real fonts, tokens, and component classes, read from the customer's actual source tree.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injected on prep.outrigger.com via a token-gated loader — before any experiment existed.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running as Variation #1 custom code in a real Optimizely Web Experiment. Verified live.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0" y="1691640"/>
            <a:ext cx="3867912" cy="649224"/>
          </a:xfrm>
          <a:prstGeom prst="roundRect">
            <a:avLst>
              <a:gd name="adj" fmla="val 1267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73568" y="1691640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55480" y="1691640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→ running experiment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2436876"/>
            <a:ext cx="3867912" cy="649224"/>
          </a:xfrm>
          <a:prstGeom prst="roundRect">
            <a:avLst>
              <a:gd name="adj" fmla="val 1267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2436876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KB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55480" y="2436876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self-contained, SHA-pinned variation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3182112"/>
            <a:ext cx="3867912" cy="649224"/>
          </a:xfrm>
          <a:prstGeom prst="roundRect">
            <a:avLst>
              <a:gd name="adj" fmla="val 1267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3182112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rooms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55480" y="3182112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data-joined · zero API calls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0" y="3927348"/>
            <a:ext cx="3867912" cy="649224"/>
          </a:xfrm>
          <a:prstGeom prst="roundRect">
            <a:avLst>
              <a:gd name="adj" fmla="val 1267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3927348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55480" y="3927348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variation code written by a human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0B1220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/api/loader/status?key=room-detail-overlay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394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"served": "9214134", "head": "9214134", "stale": false, "artifactProblem": null 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truth, not vibes — everything the loop serves is verifiable and commit-pinned.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QUALITY NEEDS A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passed review — and died in the custom-code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31536" cy="2148840"/>
          </a:xfrm>
          <a:prstGeom prst="roundRect">
            <a:avLst>
              <a:gd name="adj" fmla="val 3830"/>
            </a:avLst>
          </a:prstGeom>
          <a:solidFill>
            <a:srgbClr val="18233B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65960"/>
            <a:ext cx="438912" cy="438912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06471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6596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our loader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after page load — libraries and data ready.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room CTAs wired. Fully functional.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8776" y="1691640"/>
            <a:ext cx="5431536" cy="2148840"/>
          </a:xfrm>
          <a:prstGeom prst="roundRect">
            <a:avLst>
              <a:gd name="adj" fmla="val 3830"/>
            </a:avLst>
          </a:prstGeom>
          <a:solidFill>
            <a:srgbClr val="18233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65960"/>
            <a:ext cx="438912" cy="438912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1" descr="/private/tmp/claude-501/-Users-bryanhopkins-AIChat-resort-ai-chatbot/485380a5-5fbc-481a-aba5-950dd47c1f1d/scratchpad/deck/icons/x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06471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96596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Optimizely — same code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74536" y="2606040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from &lt;head&gt; — before the page's libraries exist.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wired. “Failed to apply change.” Silent in production.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invisible failure modes, found live: an init() that bailed before dependencies arrived, and a wrapper appending to a &lt;body&gt; that didn't exist yet.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6" name="Image 2" descr="/private/tmp/claude-501/-Users-bryanhopkins-AIChat-resort-ai-chatbot/485380a5-5fbc-481a-aba5-950dd47c1f1d/scratchpad/deck/icons/zap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1480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846320"/>
            <a:ext cx="9948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now permanent, automated platform knowledge. </a:t>
            </a:r>
            <a:pPr indent="0" marL="0">
              <a:buNone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variation is tested under BOTH injection timings before it ships — the gate the custom-code box has never had.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plain-language brief to certified variation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31536" cy="1325880"/>
          </a:xfrm>
          <a:prstGeom prst="roundRect">
            <a:avLst>
              <a:gd name="adj" fmla="val 620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402336" cy="402336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edi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983334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19656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Brief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98448" y="2148840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writes it. If it's thin, the agent interviews the author. The console record is canonical.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08776" y="1691640"/>
            <a:ext cx="5431536" cy="1325880"/>
          </a:xfrm>
          <a:prstGeom prst="roundRect">
            <a:avLst>
              <a:gd name="adj" fmla="val 620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892808"/>
            <a:ext cx="402336" cy="402336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1" name="Image 1" descr="/private/tmp/claude-501/-Users-bryanhopkins-AIChat-resort-ai-chatbot/485380a5-5fbc-481a-aba5-950dd47c1f1d/scratchpad/deck/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470" y="1983334"/>
            <a:ext cx="221285" cy="221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58584" y="1819656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Agent builds in a real repo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58584" y="2148840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with the page's embedded data model, extracted brand tokens, read-only production source, and its skill set.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45536"/>
            <a:ext cx="5431536" cy="1325880"/>
          </a:xfrm>
          <a:prstGeom prst="roundRect">
            <a:avLst>
              <a:gd name="adj" fmla="val 620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346704"/>
            <a:ext cx="402336" cy="402336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6" name="Image 2" descr="/private/tmp/claude-501/-Users-bryanhopkins-AIChat-resort-ai-chatbot/485380a5-5fbc-481a-aba5-950dd47c1f1d/scratchpad/deck/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3437230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7355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Review on the real environment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98448" y="3602736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token-gated loader injects the build on the customer's actual lower env. Stakeholders see the real page.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08776" y="3145536"/>
            <a:ext cx="5431536" cy="1325880"/>
          </a:xfrm>
          <a:prstGeom prst="roundRect">
            <a:avLst>
              <a:gd name="adj" fmla="val 620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346704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1" name="Image 3" descr="/private/tmp/claude-501/-Users-bryanhopkins-AIChat-resort-ai-chatbot/485380a5-5fbc-481a-aba5-950dd47c1f1d/scratchpad/deck/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470" y="3437230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58584" y="327355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Certify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58584" y="3602736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gate: dual injection timing, idempotency, re-render survival, zero-analytics, bundle budget.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599432"/>
            <a:ext cx="5431536" cy="1325880"/>
          </a:xfrm>
          <a:prstGeom prst="roundRect">
            <a:avLst>
              <a:gd name="adj" fmla="val 620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4800600"/>
            <a:ext cx="402336" cy="402336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6" name="Image 4" descr="/private/tmp/claude-501/-Users-bryanhopkins-AIChat-resort-ai-chatbot/485380a5-5fbc-481a-aba5-950dd47c1f1d/scratchpad/deck/icons/sen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4" y="4891126"/>
            <a:ext cx="221285" cy="2212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4727448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Ship by API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298448" y="5056632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version pushed into the experiment's variation, read back and verified. No paste, ever.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08776" y="4599432"/>
            <a:ext cx="5431536" cy="1325880"/>
          </a:xfrm>
          <a:prstGeom prst="roundRect">
            <a:avLst>
              <a:gd name="adj" fmla="val 620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4800600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31" name="Image 5" descr="/private/tmp/claude-501/-Users-bryanhopkins-AIChat-resort-ai-chatbot/485380a5-5fbc-481a-aba5-950dd47c1f1d/scratchpad/deck/icons/pr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470" y="4891126"/>
            <a:ext cx="221285" cy="22128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58584" y="4727448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Winner → production PR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58584" y="5056632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productionizes the winning variation into the real source tree. Humans review and merge.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discipline throughout: the console owns context and skills · the agent owns src and the built artifact · production source is read-only · nothing merges without a human.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board that reads ground truth — not sticky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64792" cy="2377440"/>
          </a:xfrm>
          <a:prstGeom prst="roundRect">
            <a:avLst>
              <a:gd name="adj" fmla="val 4663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288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" y="224028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40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booking bar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8096" y="289864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 social proof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14016" y="1737360"/>
            <a:ext cx="1764792" cy="2377440"/>
          </a:xfrm>
          <a:prstGeom prst="roundRect">
            <a:avLst>
              <a:gd name="adj" fmla="val 4663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8288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42032" y="224028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240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upsell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33472" y="289864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sign-off pending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79392" y="1737360"/>
            <a:ext cx="1764792" cy="2377440"/>
          </a:xfrm>
          <a:prstGeom prst="roundRect">
            <a:avLst>
              <a:gd name="adj" fmla="val 4663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8288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07408" y="224028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2240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planner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98848" y="289864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agent engaged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44768" y="1737360"/>
            <a:ext cx="1764792" cy="2377440"/>
          </a:xfrm>
          <a:prstGeom prst="roundRect">
            <a:avLst>
              <a:gd name="adj" fmla="val 4663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8288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72784" y="224028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2240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simplification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64224" y="289864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 approvals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10144" y="1737360"/>
            <a:ext cx="1764792" cy="2377440"/>
          </a:xfrm>
          <a:prstGeom prst="roundRect">
            <a:avLst>
              <a:gd name="adj" fmla="val 4663"/>
            </a:avLst>
          </a:prstGeom>
          <a:solidFill>
            <a:srgbClr val="18233B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25" name="Image 0" descr="/private/tmp/claude-501/-Users-bryanhopkins-AIChat-resort-ai-chatbot/485380a5-5fbc-481a-aba5-950dd47c1f1d/scratchpad/deck/icons/loc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88" y="1883664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156448" y="18288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138160" y="224028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0" y="2240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overlay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229600" y="289864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LOCKED · live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875520" y="1737360"/>
            <a:ext cx="1764792" cy="2377440"/>
          </a:xfrm>
          <a:prstGeom prst="roundRect">
            <a:avLst>
              <a:gd name="adj" fmla="val 4663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21824" y="18288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003536" y="224028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94976" y="2240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CTA v2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094976" y="289864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merged PR #214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" y="44348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advance and lock from real system state — provision, build, certification, the experiment's live status from the Optimizely API, the merged PR. Not from someone dragging a card.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gates exactly where human judgment lives: brief approval before build, review approval before ship.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and primary metric on every card — the experimentation discipline most teams never had, built into the workflow.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but it's the accelerator for every team that has never run a structured testing program.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gets smarter every time it's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31536" cy="1481328"/>
          </a:xfrm>
          <a:prstGeom prst="roundRect">
            <a:avLst>
              <a:gd name="adj" fmla="val 555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11096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448" y="2005736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56232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library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203704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instructions agents load on wake — generic, per-brand, per-prototype. Platform packs (Optimizely Web, Optimizely CMS) compound expertise.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08776" y="1691640"/>
            <a:ext cx="5431536" cy="1481328"/>
          </a:xfrm>
          <a:prstGeom prst="roundRect">
            <a:avLst>
              <a:gd name="adj" fmla="val 555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11096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1" name="Image 1" descr="/private/tmp/claude-501/-Users-bryanhopkins-AIChat-resort-ai-chatbot/485380a5-5fbc-481a-aba5-950dd47c1f1d/scratchpad/deck/icons/cha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584" y="200573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86016" y="1856232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channel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986016" y="2203704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file friction and proposals from inside the work, attributed to the prototype. Triage feeds the backlog.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319272"/>
            <a:ext cx="5431536" cy="1481328"/>
          </a:xfrm>
          <a:prstGeom prst="roundRect">
            <a:avLst>
              <a:gd name="adj" fmla="val 555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538728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6" name="Image 2" descr="/private/tmp/claude-501/-Users-bryanhopkins-AIChat-resort-ai-chatbot/485380a5-5fbc-481a-aba5-950dd47c1f1d/scratchpad/deck/icons/refres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" y="363336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83864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831336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ship, sessions become proposed skill updates and new certification checks — human-approved.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08776" y="3319272"/>
            <a:ext cx="5431536" cy="1481328"/>
          </a:xfrm>
          <a:prstGeom prst="roundRect">
            <a:avLst>
              <a:gd name="adj" fmla="val 555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538728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1" name="Image 3" descr="/private/tmp/claude-501/-Users-bryanhopkins-AIChat-resort-ai-chatbot/485380a5-5fbc-481a-aba5-950dd47c1f1d/scratchpad/deck/icons/cpu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584" y="363336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3483864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Self-syncing agents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86016" y="3831336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fresh agent wakes oriented: reads the system model, checks sync status, heals its own drift. Zero briefing.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pic>
        <p:nvPicPr>
          <p:cNvPr id="25" name="Image 4" descr="/private/tmp/claude-501/-Users-bryanhopkins-AIChat-resort-ai-chatbot/485380a5-5fbc-481a-aba5-950dd47c1f1d/scratchpad/deck/icons/activity-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30352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029200"/>
            <a:ext cx="9948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observed, same-day: </a:t>
            </a:r>
            <a:pPr indent="0" marL="0">
              <a:buNone/>
            </a:pPr>
            <a:r>
              <a:rPr lang="en-US" sz="14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agent's feedback from inside a build became a shipped platform fix — inherited by every session after it. This flywheel can't be rebuilt by fiat; it has to be lived.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YOUR PLATFORM IS MISSING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Variations — a quality gate for custom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5" name="Image 0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70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6916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injection timing — early &lt;head&gt; AND post-load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08776" y="16916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8" name="Image 1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470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75704" y="16916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— runs twice, applies once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11" name="Image 2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328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23774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page re-renders (MutationObserver)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08776" y="23774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14" name="Image 3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53288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75704" y="23774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analytics or tracking added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0632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17" name="Image 4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1868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15568" y="30632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Same-origin assets only — nothing external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08776" y="30632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20" name="Image 5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218688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75704" y="30632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budget + flicker / CLS estimate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48640" y="37490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23" name="Image 6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904488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15568" y="37490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Multi-viewport screenshot matrix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08776" y="3749040"/>
            <a:ext cx="5431536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pic>
        <p:nvPicPr>
          <p:cNvPr id="26" name="Image 7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3904488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75704" y="374904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provenance — review-bytes = ship-bytes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pic>
        <p:nvPicPr>
          <p:cNvPr id="29" name="Image 8" descr="/private/tmp/claude-501/-Users-bryanhopkins-AIChat-resort-ai-chatbot/485380a5-5fbc-481a-aba5-950dd47c1f1d/scratchpad/deck/icons/award-m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138928"/>
            <a:ext cx="457200" cy="4572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463040" y="4663440"/>
            <a:ext cx="9902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buys Optimizely: 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silent failures and support tickets on custom code  ·  a trust badge in the variation editor  ·  the confidence to sell customers on bigger, bolder experiments.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BY CONSTRUCTION — IN YOUR OWN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that completes Opal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21024" cy="2651760"/>
          </a:xfrm>
          <a:prstGeom prst="roundRect">
            <a:avLst>
              <a:gd name="adj" fmla="val 3103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2880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variation development agent is only available in the new Visual Editor.”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32461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Optimizely Support — AI variation development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36118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lives inside the editor ceiling.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3964" y="1645920"/>
            <a:ext cx="3621024" cy="2651760"/>
          </a:xfrm>
          <a:prstGeom prst="roundRect">
            <a:avLst>
              <a:gd name="adj" fmla="val 3103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1708" y="182880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“Variation-level code changes (custom HTML, CSS, and JavaScript) are not supported through MCP. Instead, use the Visual Editor.”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1708" y="32461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Optimizely Support — Experimentation MCP server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1708" y="36118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agent surface excludes variation code. We are the missing tool call.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621024" cy="2651760"/>
          </a:xfrm>
          <a:prstGeom prst="roundRect">
            <a:avLst>
              <a:gd name="adj" fmla="val 3103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82880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“Any code Opal generates is a custom code solution and falls outside the scope of Optimizely Support.”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57032" y="32461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Optimizely Support — AI variation development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57032" y="361188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code is disclaimed. Ours is certified.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Opal orchestrates and ideates. We are the depth layer its own documentation scopes out — and the integration writes itself: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2724912" cy="868680"/>
          </a:xfrm>
          <a:prstGeom prst="roundRect">
            <a:avLst>
              <a:gd name="adj" fmla="val 9474"/>
            </a:avLst>
          </a:prstGeom>
          <a:solidFill>
            <a:srgbClr val="202E4E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98348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 inside the Optimizely UI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4992" y="4983480"/>
            <a:ext cx="2724912" cy="868680"/>
          </a:xfrm>
          <a:prstGeom prst="roundRect">
            <a:avLst>
              <a:gd name="adj" fmla="val 9474"/>
            </a:avLst>
          </a:prstGeom>
          <a:solidFill>
            <a:srgbClr val="202E4E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498348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rides your snippet — zero site access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1344" y="4983480"/>
            <a:ext cx="2724912" cy="868680"/>
          </a:xfrm>
          <a:prstGeom prst="roundRect">
            <a:avLst>
              <a:gd name="adj" fmla="val 9474"/>
            </a:avLst>
          </a:prstGeom>
          <a:solidFill>
            <a:srgbClr val="202E4E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498348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“Certified” badge in the variation editor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4983480"/>
            <a:ext cx="2724912" cy="868680"/>
          </a:xfrm>
          <a:prstGeom prst="roundRect">
            <a:avLst>
              <a:gd name="adj" fmla="val 9474"/>
            </a:avLst>
          </a:prstGeom>
          <a:solidFill>
            <a:srgbClr val="202E4E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288" y="498348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Opal calls our agents over MCP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 with sources: docs/OPAL-GAP-ANALYSIS.md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experiments cost $20K each — or never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06624" cy="1737360"/>
          </a:xfrm>
          <a:prstGeom prst="roundRect">
            <a:avLst>
              <a:gd name="adj" fmla="val 473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cost of a custom-coded experiment today (agency or dev team)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706624" cy="1737360"/>
          </a:xfrm>
          <a:prstGeom prst="roundRect">
            <a:avLst>
              <a:gd name="adj" fmla="val 473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538728" y="260604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dev-hours per experiment, before QA and rework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706624" cy="1737360"/>
          </a:xfrm>
          <a:prstGeom prst="roundRect">
            <a:avLst>
              <a:gd name="adj" fmla="val 473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$5–10B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345936" y="260604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CRO-services and implementation pool we displace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706624" cy="1737360"/>
          </a:xfrm>
          <a:prstGeom prst="roundRect">
            <a:avLst>
              <a:gd name="adj" fmla="val 473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87452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day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53144" y="260604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brief-to-live-experiment target, agent-built and certified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91672" cy="2194560"/>
          </a:xfrm>
          <a:prstGeom prst="roundRect">
            <a:avLst>
              <a:gd name="adj" fmla="val 3750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does for Optimizely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34340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 — customers run bigger, more ambitious experiments when authoring stops being the bottleneck.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support burden — certified custom code replaces the platform's most failure-prone surface.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 — experiments become durable code assets and institutional memory wired to your platform.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story enterprise buyers are asking every vendor for — with working product behind it.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WORKING PROTOTYPE TO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each with a falsifiable exit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06624" cy="397764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7452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Kill the sharp edges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4871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weeks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834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App onboarding · API push, no paste · site compatibility check · certification v1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" y="4434840"/>
            <a:ext cx="2414016" cy="1051560"/>
          </a:xfrm>
          <a:prstGeom prst="roundRect">
            <a:avLst>
              <a:gd name="adj" fmla="val 782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</a:t>
            </a:r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stranger onboards, builds, and ships without us in the room.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691640"/>
            <a:ext cx="2706624" cy="397764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87452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Anyone can use it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57016" y="24871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6–14 weeks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57016" y="2834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build agents · console chat · program board · tenant #2 live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02152" y="4434840"/>
            <a:ext cx="2414016" cy="1051560"/>
          </a:xfrm>
          <a:prstGeom prst="roundRect">
            <a:avLst>
              <a:gd name="adj" fmla="val 782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4434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</a:t>
            </a:r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non-developer ships a certified experiment entirely from the browser.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691640"/>
            <a:ext cx="2706624" cy="397764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87452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The loop compounds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64224" y="24871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4224" y="2834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→ PR on React · results read-back · retrospective agents · connector #2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4434840"/>
            <a:ext cx="2414016" cy="1051560"/>
          </a:xfrm>
          <a:prstGeom prst="roundRect">
            <a:avLst>
              <a:gd name="adj" fmla="val 782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4434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</a:t>
            </a:r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winner merges as a production PR on a non-.NET stack; case study published.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70264" y="1691640"/>
            <a:ext cx="2706624" cy="397764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187452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Enterprise-ready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71432" y="24871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71432" y="2834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underway · SSO/SCIM · loader hardening · billing + metering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16568" y="4434840"/>
            <a:ext cx="2414016" cy="1051560"/>
          </a:xfrm>
          <a:prstGeom prst="roundRect">
            <a:avLst>
              <a:gd name="adj" fmla="val 7826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4584" y="4434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</a:t>
            </a:r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Diligence-ready: connectors, logo, metrics dashboard proving the thesis.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rule: nothing in Phase 2+ starts while a Phase-1 sharp edge still exists.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 — and why the timing is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31536" cy="3657600"/>
          </a:xfrm>
          <a:prstGeom prst="roundRect">
            <a:avLst>
              <a:gd name="adj" fmla="val 225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91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live agent-native loop — working product on a real enterprise tenant, not deck-ware.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deepest Optimizely-CMS source-awareness anywhere: prototype-to-source resolution proven on a production ASP.NET codebase.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flywheel is already spinning — skills, ideas, retrospectives, self-syncing agents.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framing ready: agent-native experiment authoring is unclaimed.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08776" y="1691640"/>
            <a:ext cx="5431536" cy="3657600"/>
          </a:xfrm>
          <a:prstGeom prst="roundRect">
            <a:avLst>
              <a:gd name="adj" fmla="val 225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816" y="192024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28816" y="2423160"/>
            <a:ext cx="4791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experimentation is this year's race — Opal, VWO Copilot, AB Tasty Evi — and all of it lives inside the editor ceiling.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authoring-and-shipping layer will exist. The open question is whether it's built with you or around you.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neutral: multi-connector by design. Comparable tuck-ins: Intellimize (eight figures), NetSpring (~$40M).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on certification becomes the industry's de-facto quality bar.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run this loop on your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21024" cy="2377440"/>
          </a:xfrm>
          <a:prstGeom prst="roundRect">
            <a:avLst>
              <a:gd name="adj" fmla="val 3462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93392"/>
            <a:ext cx="475488" cy="475488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2100377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Design-partner pilot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0906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Optimizely Web customers, 90 days, fully instrumented: time-to-live-experiment, certification pass rate, native-ship rate.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3964" y="1737360"/>
            <a:ext cx="3621024" cy="2377440"/>
          </a:xfrm>
          <a:prstGeom prst="roundRect">
            <a:avLst>
              <a:gd name="adj" fmla="val 3462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9996" y="1993392"/>
            <a:ext cx="475488" cy="475488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1" name="Image 1" descr="/private/tmp/claude-501/-Users-bryanhopkins-AIChat-resort-ai-chatbot/485380a5-5fbc-481a-aba5-950dd47c1f1d/scratchpad/deck/icons/cpu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2100377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9996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Opal + MCP interop workshop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39996" y="30906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our build agents into Opal's orchestration — “beyond the editor” as an Opal capability, not a competitor.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9288" y="1737360"/>
            <a:ext cx="3621024" cy="2377440"/>
          </a:xfrm>
          <a:prstGeom prst="roundRect">
            <a:avLst>
              <a:gd name="adj" fmla="val 3462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993392"/>
            <a:ext cx="475488" cy="475488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6" name="Image 2" descr="/private/tmp/claude-501/-Users-bryanhopkins-AIChat-resort-ai-chatbot/485380a5-5fbc-481a-aba5-950dd47c1f1d/scratchpad/deck/icons/targe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5" y="2100377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Build-vs-buy conversation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75320" y="30906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product leadership, after the pilot data lands. We'll bring the metrics; you bring the roadmap.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product. Live tenant. The loop closed July 23, 2026 — and it gets smarter every session.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 Hopkins  ·  INHQ  ·  bryan@inhq.com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Agent-Native Experiment Authoring Layer</dc:title>
  <dc:subject>PptxGenJS Presentation</dc:subject>
  <dc:creator>INHQ</dc:creator>
  <cp:lastModifiedBy>INHQ</cp:lastModifiedBy>
  <cp:revision>1</cp:revision>
  <dcterms:created xsi:type="dcterms:W3CDTF">2026-07-23T19:54:44Z</dcterms:created>
  <dcterms:modified xsi:type="dcterms:W3CDTF">2026-07-23T19:54:44Z</dcterms:modified>
</cp:coreProperties>
</file>